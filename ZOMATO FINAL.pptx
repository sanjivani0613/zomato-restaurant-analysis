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66" r:id="rId5"/>
    <p:sldId id="269" r:id="rId6"/>
    <p:sldId id="268" r:id="rId7"/>
    <p:sldId id="270" r:id="rId8"/>
    <p:sldId id="261" r:id="rId9"/>
    <p:sldId id="271" r:id="rId10"/>
    <p:sldId id="274" r:id="rId11"/>
    <p:sldId id="272" r:id="rId12"/>
    <p:sldId id="267" r:id="rId13"/>
    <p:sldId id="276" r:id="rId14"/>
    <p:sldId id="275" r:id="rId15"/>
    <p:sldId id="277" r:id="rId16"/>
  </p:sldIdLst>
  <p:sldSz cx="12192000" cy="6858000"/>
  <p:notesSz cx="6858000" cy="12192000"/>
  <p:embeddedFontLst>
    <p:embeddedFont>
      <p:font typeface="Lato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4A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67"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700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F21D2-14D6-ADE0-65D7-DF98CD0FD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96DE1-C8FA-E312-60E6-7CBAC3F43F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15BC13F-9D68-5AEC-726C-740D7F75CC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8C6EF8-C81B-2B50-07F4-12E78BD786E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921718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FF447-C310-38FE-08EA-B80F1D85C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78C94-DA89-25B0-B62D-B2561FC424F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AA6D805-70BF-9090-AF71-88D89FFA69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26A60F-A1BE-5D80-DE06-880E4981372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593863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4CB56-F573-E7A1-3D1B-5EDF8AB771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1F806-7C80-1977-6B97-C0931F4C412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1F08436-AF6A-9C50-F5C7-DDEBAC6A16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FE7DA9-C4F7-C232-FDE0-B1F09E605F9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7206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D6882-9982-B078-C18C-52946D9EF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69178-426D-CF68-2F5E-D56FEFD0D81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F8CBCA5-2933-0EEE-91EC-BC51792B8E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83C69D-D357-0534-8AE4-D337C355F5D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98218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F2B4E-F1FD-317B-D5E3-CAE661FFA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FD90DA-6287-B011-98B6-85AC8D90CD4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98D3A87-E553-708A-C4DA-FE8C1B27F9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EBE47D-B4B2-8ACD-FC27-195398F50BB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73803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0DA15-CC70-90BD-AF12-85C518E1A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E538D-59AB-6AD6-FDB1-37053952A47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E4219B3-AAA0-A722-1AA6-C475E5C3B6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390CBE-C98B-E500-307C-E9BC690268A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40790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8401A-1118-1781-FEFD-63865A9028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83973-5B64-B081-E51C-7B007994307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E8A6941-5B58-28FE-F0C0-B18CCBCAB4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6C7837-7376-7FBA-DB2B-F3FE476B3AB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067561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84622-8A70-7847-4BC5-4CFB9F91C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1D481-E1EC-770C-89C5-A2A08A6D4A7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96F1729-39B0-79C9-F48F-9DA254B525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C46089-D866-59F3-B0FB-DFE9B7AAC3E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340242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403B4-26AF-E3BA-DADF-B380D303A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11A79-1555-4560-72CE-C1990F0C809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AF6E7EE-71E3-61A5-8DA1-28FA9EF931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CC7B83-21E6-08D0-5B8B-AB0A763DEC9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585203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9F64B-7F58-4B0B-9403-3083179FC4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219FB-F49F-710A-C5BD-1D3DBD2C54C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3228890-01C4-B95A-5227-AD81DCABFF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5AEB90-D6DA-7846-40E4-52C5AD506012}"/>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052211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9EE84-9169-1C0B-C07D-8138D4B7E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981A8-4593-4C8D-1698-0B675CE24AF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50B8785-A308-EFEE-B717-2EDF1D243F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FBD5A4-9A3C-085B-2C86-53903FC3929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9310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DD6CC"/>
          </a:solidFill>
          <a:ln/>
        </p:spPr>
        <p:txBody>
          <a:bodyPr/>
          <a:lstStyle/>
          <a:p>
            <a:endParaRPr lang="en-IN"/>
          </a:p>
        </p:txBody>
      </p:sp>
      <p:sp>
        <p:nvSpPr>
          <p:cNvPr id="3" name="Shape 1"/>
          <p:cNvSpPr/>
          <p:nvPr/>
        </p:nvSpPr>
        <p:spPr>
          <a:xfrm>
            <a:off x="0" y="0"/>
            <a:ext cx="12191695" cy="6858000"/>
          </a:xfrm>
          <a:prstGeom prst="rect">
            <a:avLst/>
          </a:prstGeom>
          <a:solidFill>
            <a:srgbClr val="EFECE6"/>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sv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0" y="994611"/>
            <a:ext cx="12191999" cy="1652336"/>
          </a:xfrm>
          <a:prstGeom prst="rect">
            <a:avLst/>
          </a:prstGeom>
          <a:noFill/>
          <a:ln/>
        </p:spPr>
        <p:txBody>
          <a:bodyPr wrap="square" lIns="0" tIns="0" rIns="0" bIns="0" rtlCol="0" anchor="t">
            <a:normAutofit/>
          </a:bodyPr>
          <a:lstStyle/>
          <a:p>
            <a:pPr marL="0" indent="0" algn="ctr">
              <a:lnSpc>
                <a:spcPct val="104000"/>
              </a:lnSpc>
              <a:buNone/>
            </a:pPr>
            <a:r>
              <a:rPr lang="en-US" sz="4000" b="1" dirty="0">
                <a:solidFill>
                  <a:srgbClr val="282824"/>
                </a:solidFill>
                <a:latin typeface="Lato Bold" pitchFamily="34" charset="0"/>
                <a:ea typeface="Lato Bold" pitchFamily="34" charset="-122"/>
                <a:cs typeface="Lato Bold" pitchFamily="34" charset="-120"/>
              </a:rPr>
              <a:t>ZOMATO RESTAURANT ANALYTICS</a:t>
            </a:r>
          </a:p>
          <a:p>
            <a:pPr marL="0" indent="0" algn="ctr">
              <a:lnSpc>
                <a:spcPct val="104000"/>
              </a:lnSpc>
              <a:buNone/>
            </a:pPr>
            <a:r>
              <a:rPr lang="en-US" sz="4000" b="1" dirty="0">
                <a:solidFill>
                  <a:srgbClr val="282824"/>
                </a:solidFill>
                <a:latin typeface="Lato Bold" pitchFamily="34" charset="0"/>
                <a:ea typeface="Lato Bold" pitchFamily="34" charset="-122"/>
                <a:cs typeface="Lato Bold" pitchFamily="34" charset="-120"/>
              </a:rPr>
              <a:t> PROJECT</a:t>
            </a:r>
            <a:endParaRPr lang="en-US" sz="4000" dirty="0"/>
          </a:p>
        </p:txBody>
      </p:sp>
      <p:sp>
        <p:nvSpPr>
          <p:cNvPr id="4" name="Text 1"/>
          <p:cNvSpPr/>
          <p:nvPr/>
        </p:nvSpPr>
        <p:spPr>
          <a:xfrm>
            <a:off x="0" y="3000772"/>
            <a:ext cx="12192000" cy="575548"/>
          </a:xfrm>
          <a:prstGeom prst="rect">
            <a:avLst/>
          </a:prstGeom>
          <a:noFill/>
          <a:ln/>
        </p:spPr>
        <p:txBody>
          <a:bodyPr wrap="square" lIns="0" tIns="0" rIns="0" bIns="0" rtlCol="0" anchor="t">
            <a:normAutofit/>
          </a:bodyPr>
          <a:lstStyle/>
          <a:p>
            <a:pPr algn="ctr"/>
            <a:r>
              <a:rPr lang="en-US" sz="2400" b="1" dirty="0">
                <a:solidFill>
                  <a:srgbClr val="282824"/>
                </a:solidFill>
                <a:latin typeface="Lato Bold" pitchFamily="34" charset="0"/>
                <a:ea typeface="Lato Bold" pitchFamily="34" charset="-122"/>
                <a:cs typeface="Lato Bold" pitchFamily="34" charset="-120"/>
              </a:rPr>
              <a:t>PROJECT ID : </a:t>
            </a:r>
            <a:r>
              <a:rPr lang="en-IN" sz="2400" b="1" dirty="0"/>
              <a:t>P1376</a:t>
            </a:r>
            <a:endParaRPr lang="en-US" sz="2400" b="1" dirty="0"/>
          </a:p>
        </p:txBody>
      </p:sp>
      <p:sp>
        <p:nvSpPr>
          <p:cNvPr id="5" name="Text 2"/>
          <p:cNvSpPr/>
          <p:nvPr/>
        </p:nvSpPr>
        <p:spPr>
          <a:xfrm>
            <a:off x="0" y="4106575"/>
            <a:ext cx="12192000" cy="1411909"/>
          </a:xfrm>
          <a:prstGeom prst="rect">
            <a:avLst/>
          </a:prstGeom>
          <a:noFill/>
          <a:ln/>
        </p:spPr>
        <p:txBody>
          <a:bodyPr wrap="none" lIns="0" tIns="0" rIns="0" bIns="0" rtlCol="0" anchor="t"/>
          <a:lstStyle/>
          <a:p>
            <a:pPr marL="0" indent="0" algn="ctr">
              <a:buNone/>
            </a:pPr>
            <a:r>
              <a:rPr lang="en-US" sz="1600" dirty="0">
                <a:solidFill>
                  <a:srgbClr val="4A4A45"/>
                </a:solidFill>
                <a:latin typeface="Lato Bold" panose="020F0502020204030203" charset="0"/>
                <a:ea typeface="Lato" pitchFamily="34" charset="-122"/>
                <a:cs typeface="Lato" pitchFamily="34" charset="-120"/>
              </a:rPr>
              <a:t>TEAM MEMBERS : SANJIVANI MESHRAM </a:t>
            </a:r>
          </a:p>
          <a:p>
            <a:pPr algn="ctr"/>
            <a:r>
              <a:rPr lang="en-US" sz="2000" b="1" dirty="0">
                <a:solidFill>
                  <a:srgbClr val="4A4A45"/>
                </a:solidFill>
                <a:latin typeface="Lato Bold" panose="020F0502020204030203" charset="0"/>
                <a:ea typeface="Lato" pitchFamily="34" charset="-122"/>
                <a:cs typeface="Lato" pitchFamily="34" charset="-120"/>
              </a:rPr>
              <a:t>	       </a:t>
            </a:r>
            <a:r>
              <a:rPr lang="en-US" sz="1600" b="1" dirty="0">
                <a:solidFill>
                  <a:srgbClr val="4A4A45"/>
                </a:solidFill>
                <a:latin typeface="Lato Bold" panose="020F0502020204030203" charset="0"/>
                <a:ea typeface="Lato" pitchFamily="34" charset="-122"/>
                <a:cs typeface="Lato" pitchFamily="34" charset="-120"/>
              </a:rPr>
              <a:t>SAKSHI JIWTODE</a:t>
            </a:r>
            <a:endParaRPr lang="en-IN" dirty="0">
              <a:latin typeface="Lato Bold" panose="020F0502020204030203" charset="0"/>
            </a:endParaRPr>
          </a:p>
          <a:p>
            <a:pPr algn="ctr"/>
            <a:r>
              <a:rPr lang="en-IN" sz="2000" b="1" dirty="0">
                <a:latin typeface="Lato Bold" panose="020F0502020204030203" charset="0"/>
              </a:rPr>
              <a:t>	             </a:t>
            </a:r>
            <a:r>
              <a:rPr lang="en-IN" sz="1600" b="1" dirty="0">
                <a:solidFill>
                  <a:srgbClr val="4A4A45"/>
                </a:solidFill>
                <a:latin typeface="Lato Bold" panose="020F0502020204030203" charset="0"/>
              </a:rPr>
              <a:t>GAIKWAD VAISHALI</a:t>
            </a:r>
          </a:p>
          <a:p>
            <a:pPr algn="ctr"/>
            <a:r>
              <a:rPr lang="en-IN" sz="1600" b="1" dirty="0">
                <a:solidFill>
                  <a:srgbClr val="4A4A45"/>
                </a:solidFill>
                <a:latin typeface="Lato Bold" panose="020F0502020204030203" charset="0"/>
              </a:rPr>
              <a:t>                    ANANYA T S</a:t>
            </a:r>
          </a:p>
          <a:p>
            <a:pPr algn="ctr"/>
            <a:r>
              <a:rPr lang="en-IN" sz="1600" b="1">
                <a:solidFill>
                  <a:srgbClr val="4A4A45"/>
                </a:solidFill>
                <a:latin typeface="Lato Bold" panose="020F0502020204030203" charset="0"/>
              </a:rPr>
              <a:t>            JANAVI R</a:t>
            </a:r>
            <a:endParaRPr lang="en-US" sz="1600" b="1" dirty="0">
              <a:solidFill>
                <a:srgbClr val="4A4A45"/>
              </a:solidFill>
              <a:latin typeface="Lato Bold" panose="020F0502020204030203"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0" y="596912"/>
            <a:ext cx="12191999" cy="590649"/>
          </a:xfrm>
          <a:prstGeom prst="rect">
            <a:avLst/>
          </a:prstGeom>
          <a:noFill/>
          <a:ln/>
        </p:spPr>
        <p:txBody>
          <a:bodyPr wrap="none" lIns="0" tIns="0" rIns="0" bIns="0" rtlCol="0" anchor="t"/>
          <a:lstStyle/>
          <a:p>
            <a:pPr marL="0" indent="0" algn="ctr">
              <a:lnSpc>
                <a:spcPct val="104000"/>
              </a:lnSpc>
              <a:buNone/>
            </a:pPr>
            <a:r>
              <a:rPr lang="en-US" sz="2800" b="1" dirty="0">
                <a:solidFill>
                  <a:srgbClr val="282824"/>
                </a:solidFill>
                <a:latin typeface="Lato Bold" pitchFamily="34" charset="0"/>
                <a:ea typeface="Lato Bold" pitchFamily="34" charset="-122"/>
                <a:cs typeface="Lato Bold" pitchFamily="34" charset="-120"/>
              </a:rPr>
              <a:t>TABLE OF CONTENT</a:t>
            </a:r>
            <a:endParaRPr lang="en-US" sz="2800" dirty="0"/>
          </a:p>
        </p:txBody>
      </p:sp>
      <p:sp>
        <p:nvSpPr>
          <p:cNvPr id="4" name="Shape 1"/>
          <p:cNvSpPr/>
          <p:nvPr/>
        </p:nvSpPr>
        <p:spPr>
          <a:xfrm>
            <a:off x="450039" y="1796926"/>
            <a:ext cx="1846119" cy="1075858"/>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r>
              <a:rPr lang="en-IN" sz="1400" dirty="0">
                <a:latin typeface="Lato Bold" panose="020F0502020204030203" charset="0"/>
              </a:rPr>
              <a:t>1. PROJECT INTRODUCTION</a:t>
            </a:r>
          </a:p>
          <a:p>
            <a:pPr algn="ctr"/>
            <a:endParaRPr lang="en-IN" sz="1400" dirty="0">
              <a:latin typeface="Lato Bold" panose="020F0502020204030203" charset="0"/>
            </a:endParaRPr>
          </a:p>
        </p:txBody>
      </p:sp>
      <p:sp>
        <p:nvSpPr>
          <p:cNvPr id="7" name="Shape 4"/>
          <p:cNvSpPr/>
          <p:nvPr/>
        </p:nvSpPr>
        <p:spPr>
          <a:xfrm>
            <a:off x="3067294" y="1852537"/>
            <a:ext cx="1770177" cy="1075858"/>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r>
              <a:rPr lang="en-IN" sz="1400" dirty="0">
                <a:latin typeface="Lato Bold" panose="020F0502020204030203" charset="0"/>
              </a:rPr>
              <a:t>2. PROJECT OBJECTIVES</a:t>
            </a:r>
          </a:p>
        </p:txBody>
      </p:sp>
      <p:sp>
        <p:nvSpPr>
          <p:cNvPr id="14" name="Shape 4">
            <a:extLst>
              <a:ext uri="{FF2B5EF4-FFF2-40B4-BE49-F238E27FC236}">
                <a16:creationId xmlns:a16="http://schemas.microsoft.com/office/drawing/2014/main" id="{0195B581-F142-4DC9-AA05-9ED6313696E7}"/>
              </a:ext>
            </a:extLst>
          </p:cNvPr>
          <p:cNvSpPr/>
          <p:nvPr/>
        </p:nvSpPr>
        <p:spPr>
          <a:xfrm>
            <a:off x="5959247" y="1796926"/>
            <a:ext cx="1770177" cy="1131468"/>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r>
              <a:rPr lang="en-IN" sz="1400" dirty="0">
                <a:latin typeface="Lato Bold" panose="020F0502020204030203" charset="0"/>
              </a:rPr>
              <a:t>3. DATA CLEANING &amp; PREPROCESSING</a:t>
            </a:r>
          </a:p>
        </p:txBody>
      </p:sp>
      <p:sp>
        <p:nvSpPr>
          <p:cNvPr id="16" name="Shape 4">
            <a:extLst>
              <a:ext uri="{FF2B5EF4-FFF2-40B4-BE49-F238E27FC236}">
                <a16:creationId xmlns:a16="http://schemas.microsoft.com/office/drawing/2014/main" id="{4769911F-343E-48B0-9F3A-CB3A144936B2}"/>
              </a:ext>
            </a:extLst>
          </p:cNvPr>
          <p:cNvSpPr/>
          <p:nvPr/>
        </p:nvSpPr>
        <p:spPr>
          <a:xfrm>
            <a:off x="8851203" y="1796925"/>
            <a:ext cx="1770177" cy="1131468"/>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r>
              <a:rPr lang="en-IN" sz="1400" dirty="0">
                <a:latin typeface="Lato Bold" panose="020F0502020204030203" charset="0"/>
              </a:rPr>
              <a:t>4. ZOMATO RESTAURANT KPIs</a:t>
            </a:r>
          </a:p>
          <a:p>
            <a:pPr algn="ctr"/>
            <a:endParaRPr lang="en-IN" sz="1400" dirty="0">
              <a:latin typeface="Lato Bold" panose="020F0502020204030203" charset="0"/>
            </a:endParaRPr>
          </a:p>
        </p:txBody>
      </p:sp>
      <p:sp>
        <p:nvSpPr>
          <p:cNvPr id="18" name="Shape 4">
            <a:extLst>
              <a:ext uri="{FF2B5EF4-FFF2-40B4-BE49-F238E27FC236}">
                <a16:creationId xmlns:a16="http://schemas.microsoft.com/office/drawing/2014/main" id="{D6CFE26C-6E10-8DD1-8C03-44FE12333638}"/>
              </a:ext>
            </a:extLst>
          </p:cNvPr>
          <p:cNvSpPr/>
          <p:nvPr/>
        </p:nvSpPr>
        <p:spPr>
          <a:xfrm>
            <a:off x="450039" y="3272593"/>
            <a:ext cx="1846119" cy="1207949"/>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r>
              <a:rPr lang="en-IN" sz="1400" dirty="0">
                <a:latin typeface="Lato Bold" panose="020F0502020204030203" charset="0"/>
              </a:rPr>
              <a:t>5. EXCEL DASHBOARD</a:t>
            </a:r>
            <a:endParaRPr lang="en-IN" sz="1400" dirty="0">
              <a:effectLst/>
              <a:latin typeface="Lato Bold" panose="020F0502020204030203" charset="0"/>
            </a:endParaRPr>
          </a:p>
        </p:txBody>
      </p:sp>
      <p:sp>
        <p:nvSpPr>
          <p:cNvPr id="20" name="Shape 4">
            <a:extLst>
              <a:ext uri="{FF2B5EF4-FFF2-40B4-BE49-F238E27FC236}">
                <a16:creationId xmlns:a16="http://schemas.microsoft.com/office/drawing/2014/main" id="{5506851F-3AFD-A023-2377-BC8F5B48F7D1}"/>
              </a:ext>
            </a:extLst>
          </p:cNvPr>
          <p:cNvSpPr/>
          <p:nvPr/>
        </p:nvSpPr>
        <p:spPr>
          <a:xfrm>
            <a:off x="5992892" y="3389950"/>
            <a:ext cx="1846119" cy="1131469"/>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r>
              <a:rPr lang="en-IN" sz="1400" dirty="0">
                <a:latin typeface="Lato Bold" panose="020F0502020204030203" charset="0"/>
              </a:rPr>
              <a:t>7. TABLEAU DASHBOARD</a:t>
            </a:r>
            <a:endParaRPr lang="en-IN" sz="1400" dirty="0">
              <a:effectLst/>
              <a:latin typeface="Lato Bold" panose="020F0502020204030203" charset="0"/>
            </a:endParaRPr>
          </a:p>
        </p:txBody>
      </p:sp>
      <p:sp>
        <p:nvSpPr>
          <p:cNvPr id="22" name="Shape 4">
            <a:extLst>
              <a:ext uri="{FF2B5EF4-FFF2-40B4-BE49-F238E27FC236}">
                <a16:creationId xmlns:a16="http://schemas.microsoft.com/office/drawing/2014/main" id="{BD7A6DE5-F958-FC53-1B06-809DEB19FA14}"/>
              </a:ext>
            </a:extLst>
          </p:cNvPr>
          <p:cNvSpPr/>
          <p:nvPr/>
        </p:nvSpPr>
        <p:spPr>
          <a:xfrm>
            <a:off x="3084116" y="3313471"/>
            <a:ext cx="1846119" cy="1207949"/>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endParaRPr lang="en-IN" sz="1400" dirty="0">
              <a:latin typeface="Lato Bold" panose="020F0502020204030203" charset="0"/>
            </a:endParaRPr>
          </a:p>
          <a:p>
            <a:pPr algn="ctr"/>
            <a:r>
              <a:rPr lang="en-IN" sz="1400" dirty="0">
                <a:latin typeface="Lato Bold" panose="020F0502020204030203" charset="0"/>
              </a:rPr>
              <a:t>6. SQL KPI QUERIES</a:t>
            </a:r>
            <a:endParaRPr lang="en-IN" sz="1400" dirty="0">
              <a:effectLst/>
              <a:latin typeface="Lato Bold" panose="020F0502020204030203" charset="0"/>
            </a:endParaRPr>
          </a:p>
        </p:txBody>
      </p:sp>
      <p:sp>
        <p:nvSpPr>
          <p:cNvPr id="24" name="Shape 4">
            <a:extLst>
              <a:ext uri="{FF2B5EF4-FFF2-40B4-BE49-F238E27FC236}">
                <a16:creationId xmlns:a16="http://schemas.microsoft.com/office/drawing/2014/main" id="{ABE34EDC-8F6E-C605-20C9-18027589AF18}"/>
              </a:ext>
            </a:extLst>
          </p:cNvPr>
          <p:cNvSpPr/>
          <p:nvPr/>
        </p:nvSpPr>
        <p:spPr>
          <a:xfrm>
            <a:off x="8851205" y="3313470"/>
            <a:ext cx="1846120" cy="1207950"/>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r>
              <a:rPr lang="en-IN" sz="1400" dirty="0">
                <a:latin typeface="Lato Bold" panose="020F0502020204030203" charset="0"/>
              </a:rPr>
              <a:t>8. POWER BI DASHBOARD</a:t>
            </a:r>
            <a:endParaRPr lang="en-IN" sz="1400" dirty="0">
              <a:effectLst/>
              <a:latin typeface="Lato Bold" panose="020F0502020204030203" charset="0"/>
            </a:endParaRPr>
          </a:p>
        </p:txBody>
      </p:sp>
      <p:sp>
        <p:nvSpPr>
          <p:cNvPr id="26" name="Shape 4">
            <a:extLst>
              <a:ext uri="{FF2B5EF4-FFF2-40B4-BE49-F238E27FC236}">
                <a16:creationId xmlns:a16="http://schemas.microsoft.com/office/drawing/2014/main" id="{45E34ADA-C000-6755-2793-5AE69F458376}"/>
              </a:ext>
            </a:extLst>
          </p:cNvPr>
          <p:cNvSpPr/>
          <p:nvPr/>
        </p:nvSpPr>
        <p:spPr>
          <a:xfrm>
            <a:off x="450039" y="4962106"/>
            <a:ext cx="1846119" cy="1207950"/>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r>
              <a:rPr lang="en-IN" sz="1400" dirty="0">
                <a:latin typeface="Lato Bold" panose="020F0502020204030203" charset="0"/>
              </a:rPr>
              <a:t>9. WHAT WE LEARNED</a:t>
            </a:r>
          </a:p>
        </p:txBody>
      </p:sp>
      <p:sp>
        <p:nvSpPr>
          <p:cNvPr id="29" name="Shape 4">
            <a:extLst>
              <a:ext uri="{FF2B5EF4-FFF2-40B4-BE49-F238E27FC236}">
                <a16:creationId xmlns:a16="http://schemas.microsoft.com/office/drawing/2014/main" id="{67D86BE4-A7DF-C4B9-AF57-90EA129B4FB7}"/>
              </a:ext>
            </a:extLst>
          </p:cNvPr>
          <p:cNvSpPr/>
          <p:nvPr/>
        </p:nvSpPr>
        <p:spPr>
          <a:xfrm>
            <a:off x="3084116" y="4962106"/>
            <a:ext cx="1846120" cy="1207950"/>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endParaRPr lang="en-IN" sz="1400" dirty="0">
              <a:latin typeface="Lato Bold" panose="020F0502020204030203" charset="0"/>
            </a:endParaRPr>
          </a:p>
          <a:p>
            <a:pPr algn="ctr"/>
            <a:r>
              <a:rPr lang="en-IN" sz="1400" dirty="0">
                <a:latin typeface="Lato Bold" panose="020F0502020204030203" charset="0"/>
              </a:rPr>
              <a:t>10. KEY INSIGHTS</a:t>
            </a:r>
          </a:p>
          <a:p>
            <a:pPr algn="ctr"/>
            <a:endParaRPr lang="en-IN" sz="1400" dirty="0">
              <a:latin typeface="Lato Bold" panose="020F0502020204030203" charset="0"/>
            </a:endParaRPr>
          </a:p>
        </p:txBody>
      </p:sp>
      <p:sp>
        <p:nvSpPr>
          <p:cNvPr id="31" name="Shape 4">
            <a:extLst>
              <a:ext uri="{FF2B5EF4-FFF2-40B4-BE49-F238E27FC236}">
                <a16:creationId xmlns:a16="http://schemas.microsoft.com/office/drawing/2014/main" id="{7C5C618A-A799-D24E-15F9-21307A34F274}"/>
              </a:ext>
            </a:extLst>
          </p:cNvPr>
          <p:cNvSpPr/>
          <p:nvPr/>
        </p:nvSpPr>
        <p:spPr>
          <a:xfrm>
            <a:off x="5992892" y="4962106"/>
            <a:ext cx="1931908" cy="1207950"/>
          </a:xfrm>
          <a:prstGeom prst="roundRect">
            <a:avLst>
              <a:gd name="adj" fmla="val 2038"/>
            </a:avLst>
          </a:prstGeom>
          <a:solidFill>
            <a:srgbClr val="E5DFD2"/>
          </a:solidFill>
          <a:ln/>
        </p:spPr>
        <p:txBody>
          <a:bodyPr/>
          <a:lstStyle/>
          <a:p>
            <a:pPr algn="ctr"/>
            <a:endParaRPr lang="en-IN" sz="1400" dirty="0">
              <a:latin typeface="Lato Bold" panose="020F0502020204030203" charset="0"/>
            </a:endParaRPr>
          </a:p>
          <a:p>
            <a:pPr algn="ctr"/>
            <a:endParaRPr lang="en-IN" sz="1400" dirty="0">
              <a:latin typeface="Lato Bold" panose="020F0502020204030203" charset="0"/>
            </a:endParaRPr>
          </a:p>
          <a:p>
            <a:pPr algn="ctr"/>
            <a:r>
              <a:rPr lang="en-IN" sz="1400" dirty="0">
                <a:latin typeface="Lato Bold" panose="020F0502020204030203" charset="0"/>
              </a:rPr>
              <a:t>11. CONCLUSION</a:t>
            </a:r>
            <a:endParaRPr lang="en-US" sz="1400" dirty="0">
              <a:latin typeface="Lato Bold" panose="020F0502020204030203" charset="0"/>
            </a:endParaRPr>
          </a:p>
          <a:p>
            <a:pPr algn="ctr"/>
            <a:endParaRPr lang="en-IN" sz="1400" dirty="0">
              <a:latin typeface="Lato Bold" panose="020F0502020204030203"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0" y="823373"/>
            <a:ext cx="12192000" cy="590649"/>
          </a:xfrm>
          <a:prstGeom prst="rect">
            <a:avLst/>
          </a:prstGeom>
          <a:noFill/>
          <a:ln/>
        </p:spPr>
        <p:txBody>
          <a:bodyPr wrap="none" lIns="0" tIns="0" rIns="0" bIns="0" rtlCol="0" anchor="t"/>
          <a:lstStyle/>
          <a:p>
            <a:pPr algn="ctr"/>
            <a:r>
              <a:rPr lang="en-IN" sz="2800" dirty="0">
                <a:latin typeface="Lato Bold" panose="020F0502020204030203" charset="0"/>
              </a:rPr>
              <a:t>PROJECT INTRODUCTION</a:t>
            </a:r>
            <a:endParaRPr lang="en-US" sz="2800" dirty="0">
              <a:latin typeface="Lato Bold" panose="020F0502020204030203" charset="0"/>
            </a:endParaRPr>
          </a:p>
        </p:txBody>
      </p:sp>
      <p:sp>
        <p:nvSpPr>
          <p:cNvPr id="7" name="Text 4"/>
          <p:cNvSpPr/>
          <p:nvPr/>
        </p:nvSpPr>
        <p:spPr>
          <a:xfrm>
            <a:off x="1034716" y="2413898"/>
            <a:ext cx="9745579" cy="2639804"/>
          </a:xfrm>
          <a:prstGeom prst="rect">
            <a:avLst/>
          </a:prstGeom>
          <a:noFill/>
          <a:ln/>
        </p:spPr>
        <p:txBody>
          <a:bodyPr wrap="square" lIns="0" tIns="0" rIns="0" bIns="0" rtlCol="0" anchor="t">
            <a:noAutofit/>
          </a:bodyPr>
          <a:lstStyle/>
          <a:p>
            <a:pPr lvl="0" algn="just">
              <a:lnSpc>
                <a:spcPct val="200000"/>
              </a:lnSpc>
            </a:pPr>
            <a:r>
              <a:rPr lang="en-IN" sz="1400" dirty="0">
                <a:latin typeface="Lato Bold" panose="020F0502020204030203" charset="0"/>
              </a:rPr>
              <a:t>Zomato Restaurant Analytics is a data analysis project focused on identifying trends and insights from restaurant data. The dataset includes information about restaurants, cuisines, ratings, pricing, locations, and services. Excel, SQL, Tableau, and Power BI were used for analysis and visualization.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E3284-CD92-26DF-9476-DDA09DFEB94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A8111A1-AF92-2102-8AED-07A50C46D560}"/>
              </a:ext>
            </a:extLst>
          </p:cNvPr>
          <p:cNvSpPr/>
          <p:nvPr/>
        </p:nvSpPr>
        <p:spPr>
          <a:xfrm>
            <a:off x="0" y="956137"/>
            <a:ext cx="12192000" cy="590649"/>
          </a:xfrm>
          <a:prstGeom prst="rect">
            <a:avLst/>
          </a:prstGeom>
          <a:noFill/>
          <a:ln/>
        </p:spPr>
        <p:txBody>
          <a:bodyPr wrap="none" lIns="0" tIns="0" rIns="0" bIns="0" rtlCol="0" anchor="t"/>
          <a:lstStyle/>
          <a:p>
            <a:pPr algn="ctr"/>
            <a:r>
              <a:rPr lang="en-IN" sz="2800" dirty="0">
                <a:latin typeface="Lato Bold" panose="020F0502020204030203" charset="0"/>
              </a:rPr>
              <a:t>PROJECT OBJECTIVES</a:t>
            </a:r>
            <a:endParaRPr lang="en-US" sz="2800" dirty="0">
              <a:latin typeface="Lato Bold" panose="020F0502020204030203" charset="0"/>
            </a:endParaRPr>
          </a:p>
        </p:txBody>
      </p:sp>
      <p:sp>
        <p:nvSpPr>
          <p:cNvPr id="7" name="Text 4">
            <a:extLst>
              <a:ext uri="{FF2B5EF4-FFF2-40B4-BE49-F238E27FC236}">
                <a16:creationId xmlns:a16="http://schemas.microsoft.com/office/drawing/2014/main" id="{F6E422A1-D21B-2080-8C9A-FA542A0B63C7}"/>
              </a:ext>
            </a:extLst>
          </p:cNvPr>
          <p:cNvSpPr/>
          <p:nvPr/>
        </p:nvSpPr>
        <p:spPr>
          <a:xfrm>
            <a:off x="1034716" y="2521743"/>
            <a:ext cx="9745579" cy="3060910"/>
          </a:xfrm>
          <a:prstGeom prst="rect">
            <a:avLst/>
          </a:prstGeom>
          <a:noFill/>
          <a:ln/>
        </p:spPr>
        <p:txBody>
          <a:bodyPr wrap="square" lIns="0" tIns="0" rIns="0" bIns="0" rtlCol="0" anchor="t">
            <a:noAutofit/>
          </a:bodyPr>
          <a:lstStyle/>
          <a:p>
            <a:pPr marL="285750" lvl="0" indent="-285750">
              <a:lnSpc>
                <a:spcPct val="200000"/>
              </a:lnSpc>
              <a:buFont typeface="Arial" panose="020B0604020202020204" pitchFamily="34" charset="0"/>
              <a:buChar char="•"/>
            </a:pPr>
            <a:r>
              <a:rPr lang="en-IN" sz="1400" dirty="0">
                <a:latin typeface="Lato Bold" panose="020F0502020204030203" charset="0"/>
              </a:rPr>
              <a:t>Analyze the distribution of restaurants across different cities. </a:t>
            </a:r>
          </a:p>
          <a:p>
            <a:pPr marL="285750" lvl="0" indent="-285750">
              <a:lnSpc>
                <a:spcPct val="200000"/>
              </a:lnSpc>
              <a:buFont typeface="Arial" panose="020B0604020202020204" pitchFamily="34" charset="0"/>
              <a:buChar char="•"/>
            </a:pPr>
            <a:r>
              <a:rPr lang="en-IN" sz="1400" dirty="0">
                <a:latin typeface="Lato Bold" panose="020F0502020204030203" charset="0"/>
              </a:rPr>
              <a:t>Study restaurant ratings and pricing patterns. </a:t>
            </a:r>
          </a:p>
          <a:p>
            <a:pPr marL="285750" lvl="0" indent="-285750">
              <a:lnSpc>
                <a:spcPct val="200000"/>
              </a:lnSpc>
              <a:buFont typeface="Arial" panose="020B0604020202020204" pitchFamily="34" charset="0"/>
              <a:buChar char="•"/>
            </a:pPr>
            <a:r>
              <a:rPr lang="en-IN" sz="1400" dirty="0">
                <a:latin typeface="Lato Bold" panose="020F0502020204030203" charset="0"/>
              </a:rPr>
              <a:t>Analyze online delivery and table booking availability. </a:t>
            </a:r>
          </a:p>
          <a:p>
            <a:pPr marL="285750" lvl="0" indent="-285750">
              <a:lnSpc>
                <a:spcPct val="200000"/>
              </a:lnSpc>
              <a:buFont typeface="Arial" panose="020B0604020202020204" pitchFamily="34" charset="0"/>
              <a:buChar char="•"/>
            </a:pPr>
            <a:r>
              <a:rPr lang="en-IN" sz="1400" dirty="0">
                <a:latin typeface="Lato Bold" panose="020F0502020204030203" charset="0"/>
              </a:rPr>
              <a:t>Identify the most common cuisines. </a:t>
            </a:r>
          </a:p>
          <a:p>
            <a:pPr marL="285750" lvl="0" indent="-285750">
              <a:lnSpc>
                <a:spcPct val="200000"/>
              </a:lnSpc>
              <a:buFont typeface="Arial" panose="020B0604020202020204" pitchFamily="34" charset="0"/>
              <a:buChar char="•"/>
            </a:pPr>
            <a:r>
              <a:rPr lang="en-IN" sz="1400" dirty="0">
                <a:latin typeface="Lato Bold" panose="020F0502020204030203" charset="0"/>
              </a:rPr>
              <a:t>Analyze restaurant openings over the years. </a:t>
            </a:r>
          </a:p>
          <a:p>
            <a:pPr marL="285750" lvl="0" indent="-285750">
              <a:lnSpc>
                <a:spcPct val="200000"/>
              </a:lnSpc>
              <a:buFont typeface="Arial" panose="020B0604020202020204" pitchFamily="34" charset="0"/>
              <a:buChar char="•"/>
            </a:pPr>
            <a:r>
              <a:rPr lang="en-IN" sz="1400" dirty="0">
                <a:latin typeface="Lato Bold" panose="020F0502020204030203" charset="0"/>
              </a:rPr>
              <a:t>Create interactive dashboards for better decision-making. </a:t>
            </a:r>
          </a:p>
          <a:p>
            <a:pPr marL="285750" lvl="0" indent="-285750">
              <a:lnSpc>
                <a:spcPct val="200000"/>
              </a:lnSpc>
              <a:buFont typeface="Arial" panose="020B0604020202020204" pitchFamily="34" charset="0"/>
              <a:buChar char="•"/>
            </a:pPr>
            <a:r>
              <a:rPr lang="en-IN" sz="1400" dirty="0">
                <a:latin typeface="Lato Bold" panose="020F0502020204030203" charset="0"/>
              </a:rPr>
              <a:t>Extract meaningful insights from the restaurant dataset.</a:t>
            </a:r>
          </a:p>
        </p:txBody>
      </p:sp>
    </p:spTree>
    <p:extLst>
      <p:ext uri="{BB962C8B-B14F-4D97-AF65-F5344CB8AC3E}">
        <p14:creationId xmlns:p14="http://schemas.microsoft.com/office/powerpoint/2010/main" val="2604676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5ABF8-E769-0A95-9EFD-48831688A0D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A30A0BB1-3E62-3F66-9708-7F63032374A6}"/>
              </a:ext>
            </a:extLst>
          </p:cNvPr>
          <p:cNvSpPr/>
          <p:nvPr/>
        </p:nvSpPr>
        <p:spPr>
          <a:xfrm>
            <a:off x="0" y="762413"/>
            <a:ext cx="12192000" cy="590649"/>
          </a:xfrm>
          <a:prstGeom prst="rect">
            <a:avLst/>
          </a:prstGeom>
          <a:noFill/>
          <a:ln/>
        </p:spPr>
        <p:txBody>
          <a:bodyPr wrap="none" lIns="0" tIns="0" rIns="0" bIns="0" rtlCol="0" anchor="t"/>
          <a:lstStyle/>
          <a:p>
            <a:pPr algn="ctr"/>
            <a:r>
              <a:rPr lang="en-IN" sz="2800" dirty="0">
                <a:latin typeface="Lato Bold" panose="020F0502020204030203" charset="0"/>
              </a:rPr>
              <a:t>DATA CLEANING &amp; PREPROCESSING</a:t>
            </a:r>
            <a:endParaRPr lang="en-US" sz="2800" dirty="0">
              <a:latin typeface="Lato Bold" panose="020F0502020204030203" charset="0"/>
            </a:endParaRPr>
          </a:p>
        </p:txBody>
      </p:sp>
      <p:sp>
        <p:nvSpPr>
          <p:cNvPr id="7" name="Text 4">
            <a:extLst>
              <a:ext uri="{FF2B5EF4-FFF2-40B4-BE49-F238E27FC236}">
                <a16:creationId xmlns:a16="http://schemas.microsoft.com/office/drawing/2014/main" id="{8D6825CA-4C7B-DBB7-BA8E-67B8714B2C9B}"/>
              </a:ext>
            </a:extLst>
          </p:cNvPr>
          <p:cNvSpPr/>
          <p:nvPr/>
        </p:nvSpPr>
        <p:spPr>
          <a:xfrm>
            <a:off x="1034716" y="2521743"/>
            <a:ext cx="9745579" cy="3675444"/>
          </a:xfrm>
          <a:prstGeom prst="rect">
            <a:avLst/>
          </a:prstGeom>
          <a:noFill/>
          <a:ln/>
        </p:spPr>
        <p:txBody>
          <a:bodyPr wrap="square" lIns="0" tIns="0" rIns="0" bIns="0" rtlCol="0" anchor="t">
            <a:noAutofit/>
          </a:bodyPr>
          <a:lstStyle/>
          <a:p>
            <a:pPr marL="285750" lvl="0" indent="-285750">
              <a:lnSpc>
                <a:spcPct val="200000"/>
              </a:lnSpc>
              <a:buFont typeface="Arial" panose="020B0604020202020204" pitchFamily="34" charset="0"/>
              <a:buChar char="•"/>
            </a:pPr>
            <a:r>
              <a:rPr lang="en-IN" sz="1400" dirty="0">
                <a:latin typeface="Lato Bold" panose="020F0502020204030203" charset="0"/>
              </a:rPr>
              <a:t>Removed or handled missing values. </a:t>
            </a:r>
          </a:p>
          <a:p>
            <a:pPr marL="285750" lvl="0" indent="-285750">
              <a:lnSpc>
                <a:spcPct val="200000"/>
              </a:lnSpc>
              <a:buFont typeface="Arial" panose="020B0604020202020204" pitchFamily="34" charset="0"/>
              <a:buChar char="•"/>
            </a:pPr>
            <a:r>
              <a:rPr lang="en-IN" sz="1400" dirty="0">
                <a:latin typeface="Lato Bold" panose="020F0502020204030203" charset="0"/>
              </a:rPr>
              <a:t>Checked duplicate and inconsistent records. </a:t>
            </a:r>
          </a:p>
          <a:p>
            <a:pPr marL="285750" lvl="0" indent="-285750">
              <a:lnSpc>
                <a:spcPct val="200000"/>
              </a:lnSpc>
              <a:buFont typeface="Arial" panose="020B0604020202020204" pitchFamily="34" charset="0"/>
              <a:buChar char="•"/>
            </a:pPr>
            <a:r>
              <a:rPr lang="en-IN" sz="1400" dirty="0">
                <a:latin typeface="Lato Bold" panose="020F0502020204030203" charset="0"/>
              </a:rPr>
              <a:t>Standardized data formats. </a:t>
            </a:r>
          </a:p>
          <a:p>
            <a:pPr marL="285750" lvl="0" indent="-285750">
              <a:lnSpc>
                <a:spcPct val="200000"/>
              </a:lnSpc>
              <a:buFont typeface="Arial" panose="020B0604020202020204" pitchFamily="34" charset="0"/>
              <a:buChar char="•"/>
            </a:pPr>
            <a:r>
              <a:rPr lang="en-IN" sz="1400" dirty="0">
                <a:latin typeface="Lato Bold" panose="020F0502020204030203" charset="0"/>
              </a:rPr>
              <a:t>Converted data into suitable numeric and categorical formats</a:t>
            </a:r>
            <a:r>
              <a:rPr lang="en-IN" sz="1400" b="1" dirty="0">
                <a:latin typeface="Lato Bold" panose="020F0502020204030203" charset="0"/>
              </a:rPr>
              <a:t>.</a:t>
            </a:r>
          </a:p>
          <a:p>
            <a:pPr marL="285750" lvl="0" indent="-285750">
              <a:lnSpc>
                <a:spcPct val="200000"/>
              </a:lnSpc>
              <a:buFont typeface="Arial" panose="020B0604020202020204" pitchFamily="34" charset="0"/>
              <a:buChar char="•"/>
            </a:pPr>
            <a:r>
              <a:rPr lang="en-IN" sz="1400" dirty="0">
                <a:latin typeface="Lato Bold" panose="020F0502020204030203" charset="0"/>
              </a:rPr>
              <a:t>Created calculated fields required for </a:t>
            </a:r>
            <a:r>
              <a:rPr lang="en-IN" sz="1400" b="1" dirty="0">
                <a:latin typeface="Lato Bold" panose="020F0502020204030203" charset="0"/>
              </a:rPr>
              <a:t>KPIs and dashboard visualizations</a:t>
            </a:r>
            <a:r>
              <a:rPr lang="en-IN" sz="1400" dirty="0">
                <a:latin typeface="Lato Bold" panose="020F0502020204030203" charset="0"/>
              </a:rPr>
              <a:t>. </a:t>
            </a:r>
          </a:p>
          <a:p>
            <a:pPr marL="285750" lvl="0" indent="-285750">
              <a:lnSpc>
                <a:spcPct val="200000"/>
              </a:lnSpc>
              <a:buFont typeface="Arial" panose="020B0604020202020204" pitchFamily="34" charset="0"/>
              <a:buChar char="•"/>
            </a:pPr>
            <a:r>
              <a:rPr lang="en-IN" sz="1400" dirty="0">
                <a:latin typeface="Lato Bold" panose="020F0502020204030203" charset="0"/>
              </a:rPr>
              <a:t>Prepared the final dataset for </a:t>
            </a:r>
            <a:r>
              <a:rPr lang="en-IN" sz="1400" b="1" dirty="0">
                <a:latin typeface="Lato Bold" panose="020F0502020204030203" charset="0"/>
              </a:rPr>
              <a:t>Excel, SQL, Tableau, and Power BI</a:t>
            </a:r>
            <a:r>
              <a:rPr lang="en-IN" sz="1400" dirty="0">
                <a:latin typeface="Lato Bold" panose="020F0502020204030203" charset="0"/>
              </a:rPr>
              <a:t> analysis.</a:t>
            </a:r>
          </a:p>
          <a:p>
            <a:pPr marL="285750" lvl="0" indent="-285750">
              <a:lnSpc>
                <a:spcPct val="200000"/>
              </a:lnSpc>
              <a:buFont typeface="Arial" panose="020B0604020202020204" pitchFamily="34" charset="0"/>
              <a:buChar char="•"/>
            </a:pPr>
            <a:endParaRPr lang="en-IN" sz="1400" b="1" dirty="0">
              <a:latin typeface="Lato Bold" panose="020F0502020204030203" charset="0"/>
            </a:endParaRPr>
          </a:p>
          <a:p>
            <a:pPr marL="285750" lvl="0" indent="-285750">
              <a:lnSpc>
                <a:spcPct val="200000"/>
              </a:lnSpc>
              <a:buFont typeface="Arial" panose="020B0604020202020204" pitchFamily="34" charset="0"/>
              <a:buChar char="•"/>
            </a:pPr>
            <a:endParaRPr lang="en-IN" sz="1400" dirty="0">
              <a:latin typeface="Lato Bold" panose="020F0502020204030203" charset="0"/>
            </a:endParaRPr>
          </a:p>
        </p:txBody>
      </p:sp>
    </p:spTree>
    <p:extLst>
      <p:ext uri="{BB962C8B-B14F-4D97-AF65-F5344CB8AC3E}">
        <p14:creationId xmlns:p14="http://schemas.microsoft.com/office/powerpoint/2010/main" val="393631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54271-35EB-8010-91E4-AA8AE9882D3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70C9F19-3C07-0DD0-F8EB-37BECE48FC5B}"/>
              </a:ext>
            </a:extLst>
          </p:cNvPr>
          <p:cNvSpPr/>
          <p:nvPr/>
        </p:nvSpPr>
        <p:spPr>
          <a:xfrm>
            <a:off x="0" y="306558"/>
            <a:ext cx="12192000" cy="590649"/>
          </a:xfrm>
          <a:prstGeom prst="rect">
            <a:avLst/>
          </a:prstGeom>
          <a:noFill/>
          <a:ln/>
        </p:spPr>
        <p:txBody>
          <a:bodyPr wrap="none" lIns="0" tIns="0" rIns="0" bIns="0" rtlCol="0" anchor="t"/>
          <a:lstStyle/>
          <a:p>
            <a:pPr algn="ctr"/>
            <a:r>
              <a:rPr lang="en-IN" sz="2800" dirty="0">
                <a:latin typeface="Lato Bold" panose="020F0502020204030203" charset="0"/>
              </a:rPr>
              <a:t>ZOMATO RESTAURANT KPIs</a:t>
            </a:r>
            <a:endParaRPr lang="en-US" sz="2800" dirty="0">
              <a:latin typeface="Lato Bold" panose="020F0502020204030203" charset="0"/>
            </a:endParaRPr>
          </a:p>
        </p:txBody>
      </p:sp>
      <p:pic>
        <p:nvPicPr>
          <p:cNvPr id="6" name="Image 1" descr="preencoded.png">
            <a:extLst>
              <a:ext uri="{FF2B5EF4-FFF2-40B4-BE49-F238E27FC236}">
                <a16:creationId xmlns:a16="http://schemas.microsoft.com/office/drawing/2014/main" id="{BB29BBDB-78AB-420B-F5EA-3DDFFE81D6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007" y="1524134"/>
            <a:ext cx="11869985" cy="1132132"/>
          </a:xfrm>
          <a:prstGeom prst="rect">
            <a:avLst/>
          </a:prstGeom>
        </p:spPr>
      </p:pic>
      <p:pic>
        <p:nvPicPr>
          <p:cNvPr id="8" name="Image 1" descr="preencoded.png">
            <a:extLst>
              <a:ext uri="{FF2B5EF4-FFF2-40B4-BE49-F238E27FC236}">
                <a16:creationId xmlns:a16="http://schemas.microsoft.com/office/drawing/2014/main" id="{B497B851-A03A-5321-61F0-F166F96307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007" y="3292043"/>
            <a:ext cx="11869985" cy="1132133"/>
          </a:xfrm>
          <a:prstGeom prst="rect">
            <a:avLst/>
          </a:prstGeom>
        </p:spPr>
      </p:pic>
      <p:pic>
        <p:nvPicPr>
          <p:cNvPr id="22" name="Picture 21">
            <a:extLst>
              <a:ext uri="{FF2B5EF4-FFF2-40B4-BE49-F238E27FC236}">
                <a16:creationId xmlns:a16="http://schemas.microsoft.com/office/drawing/2014/main" id="{159805A9-3019-11A1-ACB8-994EA9D333BB}"/>
              </a:ext>
            </a:extLst>
          </p:cNvPr>
          <p:cNvPicPr>
            <a:picLocks noChangeAspect="1"/>
          </p:cNvPicPr>
          <p:nvPr/>
        </p:nvPicPr>
        <p:blipFill>
          <a:blip r:embed="rId4"/>
          <a:srcRect/>
          <a:stretch>
            <a:fillRect/>
          </a:stretch>
        </p:blipFill>
        <p:spPr>
          <a:xfrm>
            <a:off x="652991" y="1663989"/>
            <a:ext cx="1411783" cy="898748"/>
          </a:xfrm>
          <a:prstGeom prst="rect">
            <a:avLst/>
          </a:prstGeom>
        </p:spPr>
      </p:pic>
      <p:pic>
        <p:nvPicPr>
          <p:cNvPr id="24" name="Picture 23">
            <a:extLst>
              <a:ext uri="{FF2B5EF4-FFF2-40B4-BE49-F238E27FC236}">
                <a16:creationId xmlns:a16="http://schemas.microsoft.com/office/drawing/2014/main" id="{62FC56C9-C782-FE69-8AFF-6396EAC27871}"/>
              </a:ext>
            </a:extLst>
          </p:cNvPr>
          <p:cNvPicPr>
            <a:picLocks noChangeAspect="1"/>
          </p:cNvPicPr>
          <p:nvPr/>
        </p:nvPicPr>
        <p:blipFill>
          <a:blip r:embed="rId5"/>
          <a:stretch>
            <a:fillRect/>
          </a:stretch>
        </p:blipFill>
        <p:spPr>
          <a:xfrm>
            <a:off x="652991" y="3466322"/>
            <a:ext cx="1411783" cy="837041"/>
          </a:xfrm>
          <a:prstGeom prst="rect">
            <a:avLst/>
          </a:prstGeom>
        </p:spPr>
      </p:pic>
      <p:pic>
        <p:nvPicPr>
          <p:cNvPr id="30" name="Image 1" descr="preencoded.png">
            <a:extLst>
              <a:ext uri="{FF2B5EF4-FFF2-40B4-BE49-F238E27FC236}">
                <a16:creationId xmlns:a16="http://schemas.microsoft.com/office/drawing/2014/main" id="{A6AA29F6-7200-29EB-A2EB-84F8A6D949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007" y="4790119"/>
            <a:ext cx="11869985" cy="1132133"/>
          </a:xfrm>
          <a:prstGeom prst="rect">
            <a:avLst/>
          </a:prstGeom>
        </p:spPr>
      </p:pic>
      <p:pic>
        <p:nvPicPr>
          <p:cNvPr id="32" name="Picture 31">
            <a:extLst>
              <a:ext uri="{FF2B5EF4-FFF2-40B4-BE49-F238E27FC236}">
                <a16:creationId xmlns:a16="http://schemas.microsoft.com/office/drawing/2014/main" id="{1C5DE04B-B60D-2A6D-4DFB-C1CA305004CF}"/>
              </a:ext>
            </a:extLst>
          </p:cNvPr>
          <p:cNvPicPr>
            <a:picLocks noChangeAspect="1"/>
          </p:cNvPicPr>
          <p:nvPr/>
        </p:nvPicPr>
        <p:blipFill>
          <a:blip r:embed="rId6"/>
          <a:stretch>
            <a:fillRect/>
          </a:stretch>
        </p:blipFill>
        <p:spPr>
          <a:xfrm>
            <a:off x="652991" y="4960372"/>
            <a:ext cx="1411783" cy="850147"/>
          </a:xfrm>
          <a:prstGeom prst="rect">
            <a:avLst/>
          </a:prstGeom>
        </p:spPr>
      </p:pic>
      <p:sp>
        <p:nvSpPr>
          <p:cNvPr id="36" name="TextBox 35">
            <a:extLst>
              <a:ext uri="{FF2B5EF4-FFF2-40B4-BE49-F238E27FC236}">
                <a16:creationId xmlns:a16="http://schemas.microsoft.com/office/drawing/2014/main" id="{7EFA5ACE-4430-5FDF-CD4A-22FD0AD847F1}"/>
              </a:ext>
            </a:extLst>
          </p:cNvPr>
          <p:cNvSpPr txBox="1"/>
          <p:nvPr/>
        </p:nvSpPr>
        <p:spPr>
          <a:xfrm>
            <a:off x="3600450" y="1663989"/>
            <a:ext cx="7529666" cy="771430"/>
          </a:xfrm>
          <a:prstGeom prst="rect">
            <a:avLst/>
          </a:prstGeom>
          <a:noFill/>
        </p:spPr>
        <p:txBody>
          <a:bodyPr wrap="square">
            <a:spAutoFit/>
          </a:bodyPr>
          <a:lstStyle/>
          <a:p>
            <a:pPr>
              <a:lnSpc>
                <a:spcPct val="200000"/>
              </a:lnSpc>
              <a:buNone/>
            </a:pPr>
            <a:r>
              <a:rPr lang="en-IN" sz="1200" dirty="0">
                <a:latin typeface="Lato Bold" panose="020F0502020204030203" charset="0"/>
              </a:rPr>
              <a:t>This KPI represents the average amount spent by two people at a restaurant, converted into US dollars. It helps us understand the general pricing level of restaurants.</a:t>
            </a:r>
          </a:p>
        </p:txBody>
      </p:sp>
      <p:sp>
        <p:nvSpPr>
          <p:cNvPr id="38" name="TextBox 37">
            <a:extLst>
              <a:ext uri="{FF2B5EF4-FFF2-40B4-BE49-F238E27FC236}">
                <a16:creationId xmlns:a16="http://schemas.microsoft.com/office/drawing/2014/main" id="{E9D10CCF-62D5-3FBD-C77D-F00EA0A23AA1}"/>
              </a:ext>
            </a:extLst>
          </p:cNvPr>
          <p:cNvSpPr txBox="1"/>
          <p:nvPr/>
        </p:nvSpPr>
        <p:spPr>
          <a:xfrm>
            <a:off x="3600450" y="3657986"/>
            <a:ext cx="7529666" cy="402098"/>
          </a:xfrm>
          <a:prstGeom prst="rect">
            <a:avLst/>
          </a:prstGeom>
          <a:noFill/>
        </p:spPr>
        <p:txBody>
          <a:bodyPr wrap="square">
            <a:spAutoFit/>
          </a:bodyPr>
          <a:lstStyle/>
          <a:p>
            <a:pPr>
              <a:lnSpc>
                <a:spcPct val="200000"/>
              </a:lnSpc>
            </a:pPr>
            <a:r>
              <a:rPr lang="en-IN" sz="1200" dirty="0">
                <a:latin typeface="Lato Bold" panose="020F0502020204030203" charset="0"/>
              </a:rPr>
              <a:t>This shows the percentage of restaurants that provide online food delivery services.</a:t>
            </a:r>
          </a:p>
        </p:txBody>
      </p:sp>
      <p:sp>
        <p:nvSpPr>
          <p:cNvPr id="40" name="TextBox 39">
            <a:extLst>
              <a:ext uri="{FF2B5EF4-FFF2-40B4-BE49-F238E27FC236}">
                <a16:creationId xmlns:a16="http://schemas.microsoft.com/office/drawing/2014/main" id="{2CDE2A6D-CA7C-9261-8896-6257E57DE954}"/>
              </a:ext>
            </a:extLst>
          </p:cNvPr>
          <p:cNvSpPr txBox="1"/>
          <p:nvPr/>
        </p:nvSpPr>
        <p:spPr>
          <a:xfrm>
            <a:off x="3600450" y="5129328"/>
            <a:ext cx="7529666" cy="402098"/>
          </a:xfrm>
          <a:prstGeom prst="rect">
            <a:avLst/>
          </a:prstGeom>
          <a:noFill/>
        </p:spPr>
        <p:txBody>
          <a:bodyPr wrap="square">
            <a:spAutoFit/>
          </a:bodyPr>
          <a:lstStyle/>
          <a:p>
            <a:pPr>
              <a:lnSpc>
                <a:spcPct val="200000"/>
              </a:lnSpc>
            </a:pPr>
            <a:r>
              <a:rPr lang="en-IN" sz="1200" dirty="0">
                <a:latin typeface="Lato Bold" panose="020F0502020204030203" charset="0"/>
              </a:rPr>
              <a:t>This shows the percentage of restaurants that provide table-booking facilities.</a:t>
            </a:r>
          </a:p>
        </p:txBody>
      </p:sp>
    </p:spTree>
    <p:extLst>
      <p:ext uri="{BB962C8B-B14F-4D97-AF65-F5344CB8AC3E}">
        <p14:creationId xmlns:p14="http://schemas.microsoft.com/office/powerpoint/2010/main" val="1013662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67BCA-4DD0-595A-B4FF-3ECCD39CEDA2}"/>
            </a:ext>
          </a:extLst>
        </p:cNvPr>
        <p:cNvGrpSpPr/>
        <p:nvPr/>
      </p:nvGrpSpPr>
      <p:grpSpPr>
        <a:xfrm>
          <a:off x="0" y="0"/>
          <a:ext cx="0" cy="0"/>
          <a:chOff x="0" y="0"/>
          <a:chExt cx="0" cy="0"/>
        </a:xfrm>
      </p:grpSpPr>
      <p:pic>
        <p:nvPicPr>
          <p:cNvPr id="6" name="Image 1" descr="preencoded.png">
            <a:extLst>
              <a:ext uri="{FF2B5EF4-FFF2-40B4-BE49-F238E27FC236}">
                <a16:creationId xmlns:a16="http://schemas.microsoft.com/office/drawing/2014/main" id="{C3C8AB2A-76FF-2BDD-69CE-9E47C39B2D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007" y="697832"/>
            <a:ext cx="11869985" cy="1564104"/>
          </a:xfrm>
          <a:prstGeom prst="rect">
            <a:avLst/>
          </a:prstGeom>
        </p:spPr>
      </p:pic>
      <p:pic>
        <p:nvPicPr>
          <p:cNvPr id="8" name="Image 1" descr="preencoded.png">
            <a:extLst>
              <a:ext uri="{FF2B5EF4-FFF2-40B4-BE49-F238E27FC236}">
                <a16:creationId xmlns:a16="http://schemas.microsoft.com/office/drawing/2014/main" id="{9590C089-53AC-FB1B-3614-FF7BFC2C9D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007" y="2900291"/>
            <a:ext cx="11869985" cy="1564104"/>
          </a:xfrm>
          <a:prstGeom prst="rect">
            <a:avLst/>
          </a:prstGeom>
        </p:spPr>
      </p:pic>
      <p:pic>
        <p:nvPicPr>
          <p:cNvPr id="4" name="Image 1" descr="preencoded.png">
            <a:extLst>
              <a:ext uri="{FF2B5EF4-FFF2-40B4-BE49-F238E27FC236}">
                <a16:creationId xmlns:a16="http://schemas.microsoft.com/office/drawing/2014/main" id="{55019589-0B0E-684A-B355-13FA1E7025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006" y="5102750"/>
            <a:ext cx="11869985" cy="1564105"/>
          </a:xfrm>
          <a:prstGeom prst="rect">
            <a:avLst/>
          </a:prstGeom>
        </p:spPr>
      </p:pic>
      <p:pic>
        <p:nvPicPr>
          <p:cNvPr id="10" name="Picture 9">
            <a:extLst>
              <a:ext uri="{FF2B5EF4-FFF2-40B4-BE49-F238E27FC236}">
                <a16:creationId xmlns:a16="http://schemas.microsoft.com/office/drawing/2014/main" id="{1105FD24-165E-8CD0-EC46-3E204DA34FA3}"/>
              </a:ext>
            </a:extLst>
          </p:cNvPr>
          <p:cNvPicPr>
            <a:picLocks noChangeAspect="1"/>
          </p:cNvPicPr>
          <p:nvPr/>
        </p:nvPicPr>
        <p:blipFill>
          <a:blip r:embed="rId4"/>
          <a:stretch>
            <a:fillRect/>
          </a:stretch>
        </p:blipFill>
        <p:spPr>
          <a:xfrm>
            <a:off x="691093" y="850218"/>
            <a:ext cx="2003982" cy="1259333"/>
          </a:xfrm>
          <a:prstGeom prst="rect">
            <a:avLst/>
          </a:prstGeom>
        </p:spPr>
      </p:pic>
      <p:pic>
        <p:nvPicPr>
          <p:cNvPr id="12" name="Picture 11">
            <a:extLst>
              <a:ext uri="{FF2B5EF4-FFF2-40B4-BE49-F238E27FC236}">
                <a16:creationId xmlns:a16="http://schemas.microsoft.com/office/drawing/2014/main" id="{326F8FD0-65F5-8C9F-8154-B7A398F2A3E6}"/>
              </a:ext>
            </a:extLst>
          </p:cNvPr>
          <p:cNvPicPr>
            <a:picLocks noChangeAspect="1"/>
          </p:cNvPicPr>
          <p:nvPr/>
        </p:nvPicPr>
        <p:blipFill>
          <a:blip r:embed="rId5"/>
          <a:stretch>
            <a:fillRect/>
          </a:stretch>
        </p:blipFill>
        <p:spPr>
          <a:xfrm>
            <a:off x="691093" y="3040023"/>
            <a:ext cx="2003982" cy="1325214"/>
          </a:xfrm>
          <a:prstGeom prst="rect">
            <a:avLst/>
          </a:prstGeom>
        </p:spPr>
      </p:pic>
      <p:pic>
        <p:nvPicPr>
          <p:cNvPr id="14" name="Picture 13">
            <a:extLst>
              <a:ext uri="{FF2B5EF4-FFF2-40B4-BE49-F238E27FC236}">
                <a16:creationId xmlns:a16="http://schemas.microsoft.com/office/drawing/2014/main" id="{E3165335-47A1-60F4-DBB1-475A547BC30F}"/>
              </a:ext>
            </a:extLst>
          </p:cNvPr>
          <p:cNvPicPr>
            <a:picLocks noChangeAspect="1"/>
          </p:cNvPicPr>
          <p:nvPr/>
        </p:nvPicPr>
        <p:blipFill>
          <a:blip r:embed="rId6"/>
          <a:stretch>
            <a:fillRect/>
          </a:stretch>
        </p:blipFill>
        <p:spPr>
          <a:xfrm>
            <a:off x="681374" y="5211714"/>
            <a:ext cx="2013701" cy="1346176"/>
          </a:xfrm>
          <a:prstGeom prst="rect">
            <a:avLst/>
          </a:prstGeom>
        </p:spPr>
      </p:pic>
      <p:sp>
        <p:nvSpPr>
          <p:cNvPr id="16" name="TextBox 15">
            <a:extLst>
              <a:ext uri="{FF2B5EF4-FFF2-40B4-BE49-F238E27FC236}">
                <a16:creationId xmlns:a16="http://schemas.microsoft.com/office/drawing/2014/main" id="{3F598A2F-4C57-575A-0DE8-FFA64E42BFA8}"/>
              </a:ext>
            </a:extLst>
          </p:cNvPr>
          <p:cNvSpPr txBox="1"/>
          <p:nvPr/>
        </p:nvSpPr>
        <p:spPr>
          <a:xfrm>
            <a:off x="3525951" y="3201080"/>
            <a:ext cx="6093994" cy="771430"/>
          </a:xfrm>
          <a:prstGeom prst="rect">
            <a:avLst/>
          </a:prstGeom>
          <a:noFill/>
        </p:spPr>
        <p:txBody>
          <a:bodyPr wrap="square">
            <a:spAutoFit/>
          </a:bodyPr>
          <a:lstStyle/>
          <a:p>
            <a:pPr>
              <a:lnSpc>
                <a:spcPct val="200000"/>
              </a:lnSpc>
            </a:pPr>
            <a:r>
              <a:rPr lang="en-IN" sz="1200" dirty="0">
                <a:latin typeface="Lato Bold" panose="020F0502020204030203" charset="0"/>
              </a:rPr>
              <a:t>This KPI shows the total number of restaurants available in the dataset. It gives us an overall idea of the size of the restaurant data we analyzed.</a:t>
            </a:r>
          </a:p>
        </p:txBody>
      </p:sp>
      <p:sp>
        <p:nvSpPr>
          <p:cNvPr id="18" name="TextBox 17">
            <a:extLst>
              <a:ext uri="{FF2B5EF4-FFF2-40B4-BE49-F238E27FC236}">
                <a16:creationId xmlns:a16="http://schemas.microsoft.com/office/drawing/2014/main" id="{B082F44B-EEC6-8118-F469-8047F71D66C9}"/>
              </a:ext>
            </a:extLst>
          </p:cNvPr>
          <p:cNvSpPr txBox="1"/>
          <p:nvPr/>
        </p:nvSpPr>
        <p:spPr>
          <a:xfrm>
            <a:off x="3525951" y="1113230"/>
            <a:ext cx="6093994" cy="771430"/>
          </a:xfrm>
          <a:prstGeom prst="rect">
            <a:avLst/>
          </a:prstGeom>
          <a:noFill/>
        </p:spPr>
        <p:txBody>
          <a:bodyPr wrap="square">
            <a:spAutoFit/>
          </a:bodyPr>
          <a:lstStyle/>
          <a:p>
            <a:pPr>
              <a:lnSpc>
                <a:spcPct val="200000"/>
              </a:lnSpc>
            </a:pPr>
            <a:r>
              <a:rPr lang="en-IN" sz="1200" dirty="0">
                <a:latin typeface="Lato Bold" panose="020F0502020204030203" charset="0"/>
              </a:rPr>
              <a:t>This shows the average customer rating of all restaurants in the dataset. It helps us understand the overall customer satisfaction level.</a:t>
            </a:r>
          </a:p>
        </p:txBody>
      </p:sp>
      <p:sp>
        <p:nvSpPr>
          <p:cNvPr id="20" name="TextBox 19">
            <a:extLst>
              <a:ext uri="{FF2B5EF4-FFF2-40B4-BE49-F238E27FC236}">
                <a16:creationId xmlns:a16="http://schemas.microsoft.com/office/drawing/2014/main" id="{D3399CF3-733E-6377-C466-3D39B9479D09}"/>
              </a:ext>
            </a:extLst>
          </p:cNvPr>
          <p:cNvSpPr txBox="1"/>
          <p:nvPr/>
        </p:nvSpPr>
        <p:spPr>
          <a:xfrm>
            <a:off x="3525951" y="5349401"/>
            <a:ext cx="6093994" cy="771430"/>
          </a:xfrm>
          <a:prstGeom prst="rect">
            <a:avLst/>
          </a:prstGeom>
          <a:noFill/>
        </p:spPr>
        <p:txBody>
          <a:bodyPr wrap="square">
            <a:spAutoFit/>
          </a:bodyPr>
          <a:lstStyle/>
          <a:p>
            <a:pPr>
              <a:lnSpc>
                <a:spcPct val="200000"/>
              </a:lnSpc>
            </a:pPr>
            <a:r>
              <a:rPr lang="en-IN" sz="1200" dirty="0">
                <a:latin typeface="Lato Bold" panose="020F0502020204030203" charset="0"/>
              </a:rPr>
              <a:t>This KPI shows the number of unique cities represented in the dataset. It indicates the geographical coverage of the restaurants.</a:t>
            </a:r>
          </a:p>
        </p:txBody>
      </p:sp>
    </p:spTree>
    <p:extLst>
      <p:ext uri="{BB962C8B-B14F-4D97-AF65-F5344CB8AC3E}">
        <p14:creationId xmlns:p14="http://schemas.microsoft.com/office/powerpoint/2010/main" val="2566278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CE1244-19A1-0572-D579-75303FAF906E}"/>
              </a:ext>
            </a:extLst>
          </p:cNvPr>
          <p:cNvPicPr>
            <a:picLocks noChangeAspect="1"/>
          </p:cNvPicPr>
          <p:nvPr/>
        </p:nvPicPr>
        <p:blipFill>
          <a:blip r:embed="rId3"/>
          <a:stretch>
            <a:fillRect/>
          </a:stretch>
        </p:blipFill>
        <p:spPr>
          <a:xfrm>
            <a:off x="421504" y="1584260"/>
            <a:ext cx="5951736" cy="4816257"/>
          </a:xfrm>
          <a:prstGeom prst="rect">
            <a:avLst/>
          </a:prstGeom>
        </p:spPr>
      </p:pic>
      <p:pic>
        <p:nvPicPr>
          <p:cNvPr id="6" name="Image 1" descr="preencoded.png">
            <a:extLst>
              <a:ext uri="{FF2B5EF4-FFF2-40B4-BE49-F238E27FC236}">
                <a16:creationId xmlns:a16="http://schemas.microsoft.com/office/drawing/2014/main" id="{12C708DF-8005-23EF-C45C-C3DDCA9BB8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800" y="2538648"/>
            <a:ext cx="4754880" cy="2490552"/>
          </a:xfrm>
          <a:prstGeom prst="rect">
            <a:avLst/>
          </a:prstGeom>
        </p:spPr>
      </p:pic>
      <p:sp>
        <p:nvSpPr>
          <p:cNvPr id="9" name="Text 0">
            <a:extLst>
              <a:ext uri="{FF2B5EF4-FFF2-40B4-BE49-F238E27FC236}">
                <a16:creationId xmlns:a16="http://schemas.microsoft.com/office/drawing/2014/main" id="{AA420C49-B6D8-E17C-9BD5-873ED0AB0A49}"/>
              </a:ext>
            </a:extLst>
          </p:cNvPr>
          <p:cNvSpPr/>
          <p:nvPr/>
        </p:nvSpPr>
        <p:spPr>
          <a:xfrm>
            <a:off x="0" y="457483"/>
            <a:ext cx="12192000" cy="590649"/>
          </a:xfrm>
          <a:prstGeom prst="rect">
            <a:avLst/>
          </a:prstGeom>
          <a:noFill/>
          <a:ln/>
        </p:spPr>
        <p:txBody>
          <a:bodyPr wrap="none" lIns="0" tIns="0" rIns="0" bIns="0" rtlCol="0" anchor="t"/>
          <a:lstStyle/>
          <a:p>
            <a:pPr algn="ctr"/>
            <a:r>
              <a:rPr lang="en-IN" sz="2800" b="1" dirty="0">
                <a:latin typeface="Lato Bold" panose="020F0502020204030203" charset="0"/>
              </a:rPr>
              <a:t>EXCEL DASHBOARD</a:t>
            </a:r>
            <a:endParaRPr lang="en-IN" sz="2800" b="1" dirty="0">
              <a:effectLst/>
              <a:latin typeface="Lato Bold" panose="020F0502020204030203" charset="0"/>
            </a:endParaRPr>
          </a:p>
        </p:txBody>
      </p:sp>
      <p:sp>
        <p:nvSpPr>
          <p:cNvPr id="13" name="TextBox 12">
            <a:extLst>
              <a:ext uri="{FF2B5EF4-FFF2-40B4-BE49-F238E27FC236}">
                <a16:creationId xmlns:a16="http://schemas.microsoft.com/office/drawing/2014/main" id="{83FAC3A6-B6CF-B8D5-6F33-7C3B3E584E3E}"/>
              </a:ext>
            </a:extLst>
          </p:cNvPr>
          <p:cNvSpPr txBox="1"/>
          <p:nvPr/>
        </p:nvSpPr>
        <p:spPr>
          <a:xfrm>
            <a:off x="7305040" y="2695292"/>
            <a:ext cx="4226560" cy="2177263"/>
          </a:xfrm>
          <a:prstGeom prst="rect">
            <a:avLst/>
          </a:prstGeom>
          <a:noFill/>
        </p:spPr>
        <p:txBody>
          <a:bodyPr wrap="square">
            <a:spAutoFit/>
          </a:bodyPr>
          <a:lstStyle/>
          <a:p>
            <a:pPr>
              <a:lnSpc>
                <a:spcPct val="200000"/>
              </a:lnSpc>
            </a:pPr>
            <a:r>
              <a:rPr lang="en-IN" sz="1400" dirty="0">
                <a:latin typeface="Lato Bold" panose="020F0502020204030203" charset="0"/>
              </a:rPr>
              <a:t>Excel was used for data preparation, calculations, and initial analysis. We used PivotTables, PivotCharts, calculated columns, and slicers to organize the data and create an interactive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25C31-2B4C-2C07-3675-C1CE7355154E}"/>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8942A283-7BA4-5F1C-494E-4B010D24BB5A}"/>
              </a:ext>
            </a:extLst>
          </p:cNvPr>
          <p:cNvSpPr/>
          <p:nvPr/>
        </p:nvSpPr>
        <p:spPr>
          <a:xfrm>
            <a:off x="0" y="457483"/>
            <a:ext cx="12192000" cy="487397"/>
          </a:xfrm>
          <a:prstGeom prst="rect">
            <a:avLst/>
          </a:prstGeom>
          <a:noFill/>
          <a:ln/>
        </p:spPr>
        <p:txBody>
          <a:bodyPr wrap="none" lIns="0" tIns="0" rIns="0" bIns="0" rtlCol="0" anchor="t"/>
          <a:lstStyle/>
          <a:p>
            <a:pPr algn="ctr"/>
            <a:r>
              <a:rPr lang="en-IN" sz="2800" dirty="0">
                <a:latin typeface="Lato Bold" panose="020F0502020204030203" charset="0"/>
              </a:rPr>
              <a:t>SQL KPI QUERIES</a:t>
            </a:r>
          </a:p>
        </p:txBody>
      </p:sp>
      <p:pic>
        <p:nvPicPr>
          <p:cNvPr id="7" name="Picture 6">
            <a:extLst>
              <a:ext uri="{FF2B5EF4-FFF2-40B4-BE49-F238E27FC236}">
                <a16:creationId xmlns:a16="http://schemas.microsoft.com/office/drawing/2014/main" id="{645FD61D-62D8-A33F-56B7-CCCD18CB8E24}"/>
              </a:ext>
            </a:extLst>
          </p:cNvPr>
          <p:cNvPicPr>
            <a:picLocks noChangeAspect="1"/>
          </p:cNvPicPr>
          <p:nvPr/>
        </p:nvPicPr>
        <p:blipFill>
          <a:blip r:embed="rId3"/>
          <a:stretch>
            <a:fillRect/>
          </a:stretch>
        </p:blipFill>
        <p:spPr>
          <a:xfrm>
            <a:off x="284940" y="1516856"/>
            <a:ext cx="2757620" cy="2549979"/>
          </a:xfrm>
          <a:prstGeom prst="rect">
            <a:avLst/>
          </a:prstGeom>
        </p:spPr>
      </p:pic>
      <p:pic>
        <p:nvPicPr>
          <p:cNvPr id="10" name="Picture 9">
            <a:extLst>
              <a:ext uri="{FF2B5EF4-FFF2-40B4-BE49-F238E27FC236}">
                <a16:creationId xmlns:a16="http://schemas.microsoft.com/office/drawing/2014/main" id="{429CEF83-E6BD-BD8E-3590-BA5BCD1A884E}"/>
              </a:ext>
            </a:extLst>
          </p:cNvPr>
          <p:cNvPicPr>
            <a:picLocks noChangeAspect="1"/>
          </p:cNvPicPr>
          <p:nvPr/>
        </p:nvPicPr>
        <p:blipFill>
          <a:blip r:embed="rId4"/>
          <a:stretch>
            <a:fillRect/>
          </a:stretch>
        </p:blipFill>
        <p:spPr>
          <a:xfrm>
            <a:off x="3746370" y="1516856"/>
            <a:ext cx="3313355" cy="2155371"/>
          </a:xfrm>
          <a:prstGeom prst="rect">
            <a:avLst/>
          </a:prstGeom>
        </p:spPr>
      </p:pic>
      <p:pic>
        <p:nvPicPr>
          <p:cNvPr id="12" name="Picture 11">
            <a:extLst>
              <a:ext uri="{FF2B5EF4-FFF2-40B4-BE49-F238E27FC236}">
                <a16:creationId xmlns:a16="http://schemas.microsoft.com/office/drawing/2014/main" id="{A517E9D4-CE9D-B88F-81A6-EBAC2076809A}"/>
              </a:ext>
            </a:extLst>
          </p:cNvPr>
          <p:cNvPicPr>
            <a:picLocks noChangeAspect="1"/>
          </p:cNvPicPr>
          <p:nvPr/>
        </p:nvPicPr>
        <p:blipFill>
          <a:blip r:embed="rId5"/>
          <a:stretch>
            <a:fillRect/>
          </a:stretch>
        </p:blipFill>
        <p:spPr>
          <a:xfrm>
            <a:off x="7677577" y="1516856"/>
            <a:ext cx="3542828" cy="1665514"/>
          </a:xfrm>
          <a:prstGeom prst="rect">
            <a:avLst/>
          </a:prstGeom>
        </p:spPr>
      </p:pic>
      <p:pic>
        <p:nvPicPr>
          <p:cNvPr id="15" name="Picture 14">
            <a:extLst>
              <a:ext uri="{FF2B5EF4-FFF2-40B4-BE49-F238E27FC236}">
                <a16:creationId xmlns:a16="http://schemas.microsoft.com/office/drawing/2014/main" id="{C6674797-A5BE-B2BA-E57A-49EECCF7857B}"/>
              </a:ext>
            </a:extLst>
          </p:cNvPr>
          <p:cNvPicPr>
            <a:picLocks noChangeAspect="1"/>
          </p:cNvPicPr>
          <p:nvPr/>
        </p:nvPicPr>
        <p:blipFill>
          <a:blip r:embed="rId6"/>
          <a:stretch>
            <a:fillRect/>
          </a:stretch>
        </p:blipFill>
        <p:spPr>
          <a:xfrm>
            <a:off x="284940" y="4419472"/>
            <a:ext cx="3190857" cy="1981045"/>
          </a:xfrm>
          <a:prstGeom prst="rect">
            <a:avLst/>
          </a:prstGeom>
        </p:spPr>
      </p:pic>
      <p:pic>
        <p:nvPicPr>
          <p:cNvPr id="17" name="Picture 16">
            <a:extLst>
              <a:ext uri="{FF2B5EF4-FFF2-40B4-BE49-F238E27FC236}">
                <a16:creationId xmlns:a16="http://schemas.microsoft.com/office/drawing/2014/main" id="{E5451CA2-A7F9-EA39-9615-E24DC2A9808F}"/>
              </a:ext>
            </a:extLst>
          </p:cNvPr>
          <p:cNvPicPr>
            <a:picLocks noChangeAspect="1"/>
          </p:cNvPicPr>
          <p:nvPr/>
        </p:nvPicPr>
        <p:blipFill>
          <a:blip r:embed="rId7"/>
          <a:stretch>
            <a:fillRect/>
          </a:stretch>
        </p:blipFill>
        <p:spPr>
          <a:xfrm>
            <a:off x="3746370" y="3876654"/>
            <a:ext cx="3909460" cy="2739466"/>
          </a:xfrm>
          <a:prstGeom prst="rect">
            <a:avLst/>
          </a:prstGeom>
        </p:spPr>
      </p:pic>
      <p:pic>
        <p:nvPicPr>
          <p:cNvPr id="19" name="Picture 18">
            <a:extLst>
              <a:ext uri="{FF2B5EF4-FFF2-40B4-BE49-F238E27FC236}">
                <a16:creationId xmlns:a16="http://schemas.microsoft.com/office/drawing/2014/main" id="{89E60E97-F98D-878C-DCED-03D366046DED}"/>
              </a:ext>
            </a:extLst>
          </p:cNvPr>
          <p:cNvPicPr>
            <a:picLocks noChangeAspect="1"/>
          </p:cNvPicPr>
          <p:nvPr/>
        </p:nvPicPr>
        <p:blipFill>
          <a:blip r:embed="rId8"/>
          <a:stretch>
            <a:fillRect/>
          </a:stretch>
        </p:blipFill>
        <p:spPr>
          <a:xfrm>
            <a:off x="7926403" y="3543004"/>
            <a:ext cx="3792361" cy="2549980"/>
          </a:xfrm>
          <a:prstGeom prst="rect">
            <a:avLst/>
          </a:prstGeom>
        </p:spPr>
      </p:pic>
    </p:spTree>
    <p:extLst>
      <p:ext uri="{BB962C8B-B14F-4D97-AF65-F5344CB8AC3E}">
        <p14:creationId xmlns:p14="http://schemas.microsoft.com/office/powerpoint/2010/main" val="3313117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37259-B54C-DB68-E15E-B8FDB5386FB8}"/>
            </a:ext>
          </a:extLst>
        </p:cNvPr>
        <p:cNvGrpSpPr/>
        <p:nvPr/>
      </p:nvGrpSpPr>
      <p:grpSpPr>
        <a:xfrm>
          <a:off x="0" y="0"/>
          <a:ext cx="0" cy="0"/>
          <a:chOff x="0" y="0"/>
          <a:chExt cx="0" cy="0"/>
        </a:xfrm>
      </p:grpSpPr>
      <p:pic>
        <p:nvPicPr>
          <p:cNvPr id="6" name="Image 1" descr="preencoded.png">
            <a:extLst>
              <a:ext uri="{FF2B5EF4-FFF2-40B4-BE49-F238E27FC236}">
                <a16:creationId xmlns:a16="http://schemas.microsoft.com/office/drawing/2014/main" id="{17EF1A82-A521-7438-74C0-4F23BAF678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6880" y="5390368"/>
            <a:ext cx="11043920" cy="1254259"/>
          </a:xfrm>
          <a:prstGeom prst="rect">
            <a:avLst/>
          </a:prstGeom>
        </p:spPr>
      </p:pic>
      <p:sp>
        <p:nvSpPr>
          <p:cNvPr id="9" name="Text 0">
            <a:extLst>
              <a:ext uri="{FF2B5EF4-FFF2-40B4-BE49-F238E27FC236}">
                <a16:creationId xmlns:a16="http://schemas.microsoft.com/office/drawing/2014/main" id="{EB8CF680-1E79-4957-D47C-BD607BFF9D4D}"/>
              </a:ext>
            </a:extLst>
          </p:cNvPr>
          <p:cNvSpPr/>
          <p:nvPr/>
        </p:nvSpPr>
        <p:spPr>
          <a:xfrm>
            <a:off x="0" y="269417"/>
            <a:ext cx="12192000" cy="590649"/>
          </a:xfrm>
          <a:prstGeom prst="rect">
            <a:avLst/>
          </a:prstGeom>
          <a:noFill/>
          <a:ln/>
        </p:spPr>
        <p:txBody>
          <a:bodyPr wrap="none" lIns="0" tIns="0" rIns="0" bIns="0" rtlCol="0" anchor="t"/>
          <a:lstStyle/>
          <a:p>
            <a:pPr algn="ctr"/>
            <a:r>
              <a:rPr lang="en-IN" sz="2800" b="1" dirty="0">
                <a:latin typeface="Lato Bold" panose="020F0502020204030203" charset="0"/>
              </a:rPr>
              <a:t>TABLEAU DASHBOARD</a:t>
            </a:r>
            <a:endParaRPr lang="en-IN" sz="2800" b="1" dirty="0">
              <a:effectLst/>
              <a:latin typeface="Lato Bold" panose="020F0502020204030203" charset="0"/>
            </a:endParaRPr>
          </a:p>
        </p:txBody>
      </p:sp>
      <p:pic>
        <p:nvPicPr>
          <p:cNvPr id="8" name="Picture 7">
            <a:extLst>
              <a:ext uri="{FF2B5EF4-FFF2-40B4-BE49-F238E27FC236}">
                <a16:creationId xmlns:a16="http://schemas.microsoft.com/office/drawing/2014/main" id="{4A00A54F-7D0A-0857-27C3-0A6358578E54}"/>
              </a:ext>
            </a:extLst>
          </p:cNvPr>
          <p:cNvPicPr>
            <a:picLocks noChangeAspect="1"/>
          </p:cNvPicPr>
          <p:nvPr/>
        </p:nvPicPr>
        <p:blipFill>
          <a:blip r:embed="rId4"/>
          <a:stretch>
            <a:fillRect/>
          </a:stretch>
        </p:blipFill>
        <p:spPr>
          <a:xfrm>
            <a:off x="1849120" y="1160274"/>
            <a:ext cx="7985760" cy="3929886"/>
          </a:xfrm>
          <a:prstGeom prst="rect">
            <a:avLst/>
          </a:prstGeom>
        </p:spPr>
      </p:pic>
      <p:sp>
        <p:nvSpPr>
          <p:cNvPr id="12" name="TextBox 11">
            <a:extLst>
              <a:ext uri="{FF2B5EF4-FFF2-40B4-BE49-F238E27FC236}">
                <a16:creationId xmlns:a16="http://schemas.microsoft.com/office/drawing/2014/main" id="{71B67307-DF3A-C64C-6954-587983ABA276}"/>
              </a:ext>
            </a:extLst>
          </p:cNvPr>
          <p:cNvSpPr txBox="1"/>
          <p:nvPr/>
        </p:nvSpPr>
        <p:spPr>
          <a:xfrm>
            <a:off x="1356359" y="5556439"/>
            <a:ext cx="9194800" cy="884601"/>
          </a:xfrm>
          <a:prstGeom prst="rect">
            <a:avLst/>
          </a:prstGeom>
          <a:noFill/>
        </p:spPr>
        <p:txBody>
          <a:bodyPr wrap="square">
            <a:spAutoFit/>
          </a:bodyPr>
          <a:lstStyle/>
          <a:p>
            <a:pPr>
              <a:lnSpc>
                <a:spcPct val="200000"/>
              </a:lnSpc>
            </a:pPr>
            <a:r>
              <a:rPr lang="en-IN" sz="1400" dirty="0">
                <a:latin typeface="Lato Bold" panose="020F0502020204030203" charset="0"/>
              </a:rPr>
              <a:t>Tableau was used to create highly interactive and visually engaging dashboards. We used calculated fields, filters, and different chart types to explore patterns and trends in the restaurant data.</a:t>
            </a:r>
          </a:p>
        </p:txBody>
      </p:sp>
    </p:spTree>
    <p:extLst>
      <p:ext uri="{BB962C8B-B14F-4D97-AF65-F5344CB8AC3E}">
        <p14:creationId xmlns:p14="http://schemas.microsoft.com/office/powerpoint/2010/main" val="3797453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A824D-F76F-925D-AA6B-22A1A558319C}"/>
            </a:ext>
          </a:extLst>
        </p:cNvPr>
        <p:cNvGrpSpPr/>
        <p:nvPr/>
      </p:nvGrpSpPr>
      <p:grpSpPr>
        <a:xfrm>
          <a:off x="0" y="0"/>
          <a:ext cx="0" cy="0"/>
          <a:chOff x="0" y="0"/>
          <a:chExt cx="0" cy="0"/>
        </a:xfrm>
      </p:grpSpPr>
      <p:pic>
        <p:nvPicPr>
          <p:cNvPr id="6" name="Image 1" descr="preencoded.png">
            <a:extLst>
              <a:ext uri="{FF2B5EF4-FFF2-40B4-BE49-F238E27FC236}">
                <a16:creationId xmlns:a16="http://schemas.microsoft.com/office/drawing/2014/main" id="{4FB6A5D2-48F8-6C67-F44F-F2390DE711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8800" y="2167049"/>
            <a:ext cx="4754880" cy="3053879"/>
          </a:xfrm>
          <a:prstGeom prst="rect">
            <a:avLst/>
          </a:prstGeom>
        </p:spPr>
      </p:pic>
      <p:sp>
        <p:nvSpPr>
          <p:cNvPr id="9" name="Text 0">
            <a:extLst>
              <a:ext uri="{FF2B5EF4-FFF2-40B4-BE49-F238E27FC236}">
                <a16:creationId xmlns:a16="http://schemas.microsoft.com/office/drawing/2014/main" id="{F11E60FF-2E3F-49D5-E378-95949D63701F}"/>
              </a:ext>
            </a:extLst>
          </p:cNvPr>
          <p:cNvSpPr/>
          <p:nvPr/>
        </p:nvSpPr>
        <p:spPr>
          <a:xfrm>
            <a:off x="0" y="457483"/>
            <a:ext cx="12192000" cy="590649"/>
          </a:xfrm>
          <a:prstGeom prst="rect">
            <a:avLst/>
          </a:prstGeom>
          <a:noFill/>
          <a:ln/>
        </p:spPr>
        <p:txBody>
          <a:bodyPr wrap="none" lIns="0" tIns="0" rIns="0" bIns="0" rtlCol="0" anchor="t"/>
          <a:lstStyle/>
          <a:p>
            <a:pPr algn="ctr"/>
            <a:r>
              <a:rPr lang="en-IN" sz="2800" b="1" dirty="0">
                <a:latin typeface="Lato Bold" panose="020F0502020204030203" charset="0"/>
              </a:rPr>
              <a:t>POWER BI DASHBOARD</a:t>
            </a:r>
            <a:endParaRPr lang="en-IN" sz="2800" b="1" dirty="0">
              <a:effectLst/>
              <a:latin typeface="Lato Bold" panose="020F0502020204030203" charset="0"/>
            </a:endParaRPr>
          </a:p>
        </p:txBody>
      </p:sp>
      <p:sp>
        <p:nvSpPr>
          <p:cNvPr id="13" name="TextBox 12">
            <a:extLst>
              <a:ext uri="{FF2B5EF4-FFF2-40B4-BE49-F238E27FC236}">
                <a16:creationId xmlns:a16="http://schemas.microsoft.com/office/drawing/2014/main" id="{8F9B1F72-69DF-4ACA-A84F-92A2EC879E41}"/>
              </a:ext>
            </a:extLst>
          </p:cNvPr>
          <p:cNvSpPr txBox="1"/>
          <p:nvPr/>
        </p:nvSpPr>
        <p:spPr>
          <a:xfrm>
            <a:off x="7437120" y="2426647"/>
            <a:ext cx="3962400" cy="2608150"/>
          </a:xfrm>
          <a:prstGeom prst="rect">
            <a:avLst/>
          </a:prstGeom>
          <a:noFill/>
        </p:spPr>
        <p:txBody>
          <a:bodyPr wrap="square">
            <a:spAutoFit/>
          </a:bodyPr>
          <a:lstStyle/>
          <a:p>
            <a:pPr>
              <a:lnSpc>
                <a:spcPct val="200000"/>
              </a:lnSpc>
            </a:pPr>
            <a:r>
              <a:rPr lang="en-IN" sz="1400" dirty="0">
                <a:latin typeface="Lato Bold" panose="020F0502020204030203" charset="0"/>
              </a:rPr>
              <a:t>Power BI was used to transform the analysis into a more interactive and professional business dashboard. We created DAX measures, interactive visuals, KPI cards, and slicers to explore the restaurant data dynamically.</a:t>
            </a:r>
          </a:p>
        </p:txBody>
      </p:sp>
      <p:pic>
        <p:nvPicPr>
          <p:cNvPr id="3" name="Picture 2">
            <a:extLst>
              <a:ext uri="{FF2B5EF4-FFF2-40B4-BE49-F238E27FC236}">
                <a16:creationId xmlns:a16="http://schemas.microsoft.com/office/drawing/2014/main" id="{8076EB89-0444-AC97-62E5-8626B421D488}"/>
              </a:ext>
            </a:extLst>
          </p:cNvPr>
          <p:cNvPicPr>
            <a:picLocks noChangeAspect="1"/>
          </p:cNvPicPr>
          <p:nvPr/>
        </p:nvPicPr>
        <p:blipFill>
          <a:blip r:embed="rId4"/>
          <a:stretch>
            <a:fillRect/>
          </a:stretch>
        </p:blipFill>
        <p:spPr>
          <a:xfrm>
            <a:off x="223521" y="1325402"/>
            <a:ext cx="6278880" cy="4976492"/>
          </a:xfrm>
          <a:prstGeom prst="rect">
            <a:avLst/>
          </a:prstGeom>
        </p:spPr>
      </p:pic>
    </p:spTree>
    <p:extLst>
      <p:ext uri="{BB962C8B-B14F-4D97-AF65-F5344CB8AC3E}">
        <p14:creationId xmlns:p14="http://schemas.microsoft.com/office/powerpoint/2010/main" val="3286504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BF40C-B70F-3058-16DF-19D2B66323B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E15386B-3AA2-1A67-9CDA-ACC1C3964CC8}"/>
              </a:ext>
            </a:extLst>
          </p:cNvPr>
          <p:cNvSpPr/>
          <p:nvPr/>
        </p:nvSpPr>
        <p:spPr>
          <a:xfrm>
            <a:off x="0" y="660813"/>
            <a:ext cx="12192000" cy="590649"/>
          </a:xfrm>
          <a:prstGeom prst="rect">
            <a:avLst/>
          </a:prstGeom>
          <a:noFill/>
          <a:ln/>
        </p:spPr>
        <p:txBody>
          <a:bodyPr wrap="none" lIns="0" tIns="0" rIns="0" bIns="0" rtlCol="0" anchor="t"/>
          <a:lstStyle/>
          <a:p>
            <a:pPr algn="ctr"/>
            <a:r>
              <a:rPr lang="en-IN" sz="2800" dirty="0">
                <a:latin typeface="Lato Bold" panose="020F0502020204030203" charset="0"/>
              </a:rPr>
              <a:t>WHAT WE LEARNED</a:t>
            </a:r>
            <a:endParaRPr lang="en-US" sz="2800" dirty="0">
              <a:latin typeface="Lato Bold" panose="020F0502020204030203" charset="0"/>
            </a:endParaRPr>
          </a:p>
        </p:txBody>
      </p:sp>
      <p:sp>
        <p:nvSpPr>
          <p:cNvPr id="7" name="Text 4">
            <a:extLst>
              <a:ext uri="{FF2B5EF4-FFF2-40B4-BE49-F238E27FC236}">
                <a16:creationId xmlns:a16="http://schemas.microsoft.com/office/drawing/2014/main" id="{1D61BDA9-9EE8-AECB-CB81-B4D4437B37B8}"/>
              </a:ext>
            </a:extLst>
          </p:cNvPr>
          <p:cNvSpPr/>
          <p:nvPr/>
        </p:nvSpPr>
        <p:spPr>
          <a:xfrm>
            <a:off x="1034716" y="2521743"/>
            <a:ext cx="9745579" cy="3675444"/>
          </a:xfrm>
          <a:prstGeom prst="rect">
            <a:avLst/>
          </a:prstGeom>
          <a:noFill/>
          <a:ln/>
        </p:spPr>
        <p:txBody>
          <a:bodyPr wrap="square" lIns="0" tIns="0" rIns="0" bIns="0" rtlCol="0" anchor="t">
            <a:noAutofit/>
          </a:bodyPr>
          <a:lstStyle/>
          <a:p>
            <a:pPr marL="285750" lvl="0" indent="-285750">
              <a:lnSpc>
                <a:spcPct val="200000"/>
              </a:lnSpc>
              <a:buFont typeface="Arial" panose="020B0604020202020204" pitchFamily="34" charset="0"/>
              <a:buChar char="•"/>
            </a:pPr>
            <a:r>
              <a:rPr lang="en-IN" sz="1400" dirty="0">
                <a:latin typeface="Lato Bold" panose="020F0502020204030203" charset="0"/>
              </a:rPr>
              <a:t>How to </a:t>
            </a:r>
            <a:r>
              <a:rPr lang="en-IN" sz="1400" b="1" dirty="0">
                <a:latin typeface="Lato Bold" panose="020F0502020204030203" charset="0"/>
              </a:rPr>
              <a:t>clean and prepare real-world datasets</a:t>
            </a:r>
            <a:r>
              <a:rPr lang="en-IN" sz="1400" dirty="0">
                <a:latin typeface="Lato Bold" panose="020F0502020204030203" charset="0"/>
              </a:rPr>
              <a:t>. </a:t>
            </a:r>
          </a:p>
          <a:p>
            <a:pPr marL="285750" lvl="0" indent="-285750">
              <a:lnSpc>
                <a:spcPct val="200000"/>
              </a:lnSpc>
              <a:buFont typeface="Arial" panose="020B0604020202020204" pitchFamily="34" charset="0"/>
              <a:buChar char="•"/>
            </a:pPr>
            <a:r>
              <a:rPr lang="en-IN" sz="1400" dirty="0">
                <a:latin typeface="Lato Bold" panose="020F0502020204030203" charset="0"/>
              </a:rPr>
              <a:t>How to calculate and interpret </a:t>
            </a:r>
            <a:r>
              <a:rPr lang="en-IN" sz="1400" b="1" dirty="0">
                <a:latin typeface="Lato Bold" panose="020F0502020204030203" charset="0"/>
              </a:rPr>
              <a:t>KPIs</a:t>
            </a:r>
            <a:r>
              <a:rPr lang="en-IN" sz="1400" dirty="0">
                <a:latin typeface="Lato Bold" panose="020F0502020204030203" charset="0"/>
              </a:rPr>
              <a:t>. </a:t>
            </a:r>
          </a:p>
          <a:p>
            <a:pPr marL="285750" lvl="0" indent="-285750">
              <a:lnSpc>
                <a:spcPct val="200000"/>
              </a:lnSpc>
              <a:buFont typeface="Arial" panose="020B0604020202020204" pitchFamily="34" charset="0"/>
              <a:buChar char="•"/>
            </a:pPr>
            <a:r>
              <a:rPr lang="en-IN" sz="1400" dirty="0">
                <a:latin typeface="Lato Bold" panose="020F0502020204030203" charset="0"/>
              </a:rPr>
              <a:t>How to use </a:t>
            </a:r>
            <a:r>
              <a:rPr lang="en-IN" sz="1400" b="1" dirty="0">
                <a:latin typeface="Lato Bold" panose="020F0502020204030203" charset="0"/>
              </a:rPr>
              <a:t>SQL for data analysis</a:t>
            </a:r>
            <a:r>
              <a:rPr lang="en-IN" sz="1400" dirty="0">
                <a:latin typeface="Lato Bold" panose="020F0502020204030203" charset="0"/>
              </a:rPr>
              <a:t>. </a:t>
            </a:r>
          </a:p>
          <a:p>
            <a:pPr marL="285750" lvl="0" indent="-285750">
              <a:lnSpc>
                <a:spcPct val="200000"/>
              </a:lnSpc>
              <a:buFont typeface="Arial" panose="020B0604020202020204" pitchFamily="34" charset="0"/>
              <a:buChar char="•"/>
            </a:pPr>
            <a:r>
              <a:rPr lang="en-IN" sz="1400" dirty="0">
                <a:latin typeface="Lato Bold" panose="020F0502020204030203" charset="0"/>
              </a:rPr>
              <a:t>How to create meaningful </a:t>
            </a:r>
            <a:r>
              <a:rPr lang="en-IN" sz="1400" b="1" dirty="0">
                <a:latin typeface="Lato Bold" panose="020F0502020204030203" charset="0"/>
              </a:rPr>
              <a:t>charts and visualizations</a:t>
            </a:r>
            <a:r>
              <a:rPr lang="en-IN" sz="1400" dirty="0">
                <a:latin typeface="Lato Bold" panose="020F0502020204030203" charset="0"/>
              </a:rPr>
              <a:t>. </a:t>
            </a:r>
          </a:p>
          <a:p>
            <a:pPr marL="285750" lvl="0" indent="-285750">
              <a:lnSpc>
                <a:spcPct val="200000"/>
              </a:lnSpc>
              <a:buFont typeface="Arial" panose="020B0604020202020204" pitchFamily="34" charset="0"/>
              <a:buChar char="•"/>
            </a:pPr>
            <a:r>
              <a:rPr lang="en-IN" sz="1400" dirty="0">
                <a:latin typeface="Lato Bold" panose="020F0502020204030203" charset="0"/>
              </a:rPr>
              <a:t>How to build interactive dashboards using </a:t>
            </a:r>
            <a:r>
              <a:rPr lang="en-IN" sz="1400" b="1" dirty="0">
                <a:latin typeface="Lato Bold" panose="020F0502020204030203" charset="0"/>
              </a:rPr>
              <a:t>Excel, Power BI, and Tableau</a:t>
            </a:r>
            <a:r>
              <a:rPr lang="en-IN" sz="1400" dirty="0">
                <a:latin typeface="Lato Bold" panose="020F0502020204030203" charset="0"/>
              </a:rPr>
              <a:t>. </a:t>
            </a:r>
          </a:p>
          <a:p>
            <a:pPr marL="285750" lvl="0" indent="-285750">
              <a:lnSpc>
                <a:spcPct val="200000"/>
              </a:lnSpc>
              <a:buFont typeface="Arial" panose="020B0604020202020204" pitchFamily="34" charset="0"/>
              <a:buChar char="•"/>
            </a:pPr>
            <a:r>
              <a:rPr lang="en-IN" sz="1400" dirty="0">
                <a:latin typeface="Lato Bold" panose="020F0502020204030203" charset="0"/>
              </a:rPr>
              <a:t>How filters and slicers help users </a:t>
            </a:r>
            <a:r>
              <a:rPr lang="en-IN" sz="1400" b="1" dirty="0">
                <a:latin typeface="Lato Bold" panose="020F0502020204030203" charset="0"/>
              </a:rPr>
              <a:t>explore data interactively</a:t>
            </a:r>
            <a:r>
              <a:rPr lang="en-IN" sz="1400" dirty="0">
                <a:latin typeface="Lato Bold" panose="020F0502020204030203" charset="0"/>
              </a:rPr>
              <a:t>. </a:t>
            </a:r>
          </a:p>
          <a:p>
            <a:pPr marL="285750" lvl="0" indent="-285750">
              <a:lnSpc>
                <a:spcPct val="200000"/>
              </a:lnSpc>
              <a:buFont typeface="Arial" panose="020B0604020202020204" pitchFamily="34" charset="0"/>
              <a:buChar char="•"/>
            </a:pPr>
            <a:r>
              <a:rPr lang="en-IN" sz="1400" dirty="0">
                <a:latin typeface="Lato Bold" panose="020F0502020204030203" charset="0"/>
              </a:rPr>
              <a:t>How to identify </a:t>
            </a:r>
            <a:r>
              <a:rPr lang="en-IN" sz="1400" b="1" dirty="0">
                <a:latin typeface="Lato Bold" panose="020F0502020204030203" charset="0"/>
              </a:rPr>
              <a:t>trends and business insights</a:t>
            </a:r>
            <a:r>
              <a:rPr lang="en-IN" sz="1400" dirty="0">
                <a:latin typeface="Lato Bold" panose="020F0502020204030203" charset="0"/>
              </a:rPr>
              <a:t> from data. </a:t>
            </a:r>
          </a:p>
          <a:p>
            <a:pPr marL="285750" lvl="0" indent="-285750">
              <a:lnSpc>
                <a:spcPct val="200000"/>
              </a:lnSpc>
              <a:buFont typeface="Arial" panose="020B0604020202020204" pitchFamily="34" charset="0"/>
              <a:buChar char="•"/>
            </a:pPr>
            <a:r>
              <a:rPr lang="en-IN" sz="1400" dirty="0">
                <a:latin typeface="Lato Bold" panose="020F0502020204030203" charset="0"/>
              </a:rPr>
              <a:t>How data analysis can support </a:t>
            </a:r>
            <a:r>
              <a:rPr lang="en-IN" sz="1400" b="1" dirty="0">
                <a:latin typeface="Lato Bold" panose="020F0502020204030203" charset="0"/>
              </a:rPr>
              <a:t>better decision-making</a:t>
            </a:r>
            <a:r>
              <a:rPr lang="en-IN" sz="1400" dirty="0">
                <a:latin typeface="Lato Bold" panose="020F0502020204030203" charset="0"/>
              </a:rPr>
              <a:t>.</a:t>
            </a:r>
          </a:p>
        </p:txBody>
      </p:sp>
    </p:spTree>
    <p:extLst>
      <p:ext uri="{BB962C8B-B14F-4D97-AF65-F5344CB8AC3E}">
        <p14:creationId xmlns:p14="http://schemas.microsoft.com/office/powerpoint/2010/main" val="458421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174E-204A-3DBA-0D26-D7CF9ED3ECBB}"/>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67FE021-7AB3-A1DB-6510-BED8F106F81A}"/>
              </a:ext>
            </a:extLst>
          </p:cNvPr>
          <p:cNvSpPr/>
          <p:nvPr/>
        </p:nvSpPr>
        <p:spPr>
          <a:xfrm>
            <a:off x="0" y="660813"/>
            <a:ext cx="12192000" cy="590649"/>
          </a:xfrm>
          <a:prstGeom prst="rect">
            <a:avLst/>
          </a:prstGeom>
          <a:noFill/>
          <a:ln/>
        </p:spPr>
        <p:txBody>
          <a:bodyPr wrap="none" lIns="0" tIns="0" rIns="0" bIns="0" rtlCol="0" anchor="t"/>
          <a:lstStyle/>
          <a:p>
            <a:pPr algn="ctr"/>
            <a:r>
              <a:rPr lang="en-IN" sz="2800" dirty="0">
                <a:latin typeface="Lato Bold" panose="020F0502020204030203" charset="0"/>
              </a:rPr>
              <a:t> KEY INSIGHTS</a:t>
            </a:r>
            <a:endParaRPr lang="en-IN" sz="2800" dirty="0">
              <a:effectLst/>
              <a:latin typeface="Lato Bold" panose="020F0502020204030203" charset="0"/>
            </a:endParaRPr>
          </a:p>
        </p:txBody>
      </p:sp>
      <p:sp>
        <p:nvSpPr>
          <p:cNvPr id="7" name="Text 4">
            <a:extLst>
              <a:ext uri="{FF2B5EF4-FFF2-40B4-BE49-F238E27FC236}">
                <a16:creationId xmlns:a16="http://schemas.microsoft.com/office/drawing/2014/main" id="{4D34240D-0A3E-6C0A-E429-9310373C9B6B}"/>
              </a:ext>
            </a:extLst>
          </p:cNvPr>
          <p:cNvSpPr/>
          <p:nvPr/>
        </p:nvSpPr>
        <p:spPr>
          <a:xfrm>
            <a:off x="1034716" y="2521743"/>
            <a:ext cx="9745579" cy="3675444"/>
          </a:xfrm>
          <a:prstGeom prst="rect">
            <a:avLst/>
          </a:prstGeom>
          <a:noFill/>
          <a:ln/>
        </p:spPr>
        <p:txBody>
          <a:bodyPr wrap="square" lIns="0" tIns="0" rIns="0" bIns="0" rtlCol="0" anchor="t">
            <a:noAutofit/>
          </a:bodyPr>
          <a:lstStyle/>
          <a:p>
            <a:pPr marL="285750" lvl="0" indent="-285750">
              <a:lnSpc>
                <a:spcPct val="200000"/>
              </a:lnSpc>
              <a:buFont typeface="Arial" panose="020B0604020202020204" pitchFamily="34" charset="0"/>
              <a:buChar char="•"/>
            </a:pPr>
            <a:r>
              <a:rPr lang="en-IN" sz="1400" b="1" dirty="0">
                <a:latin typeface="Lato Bold" panose="020F0502020204030203" charset="0"/>
              </a:rPr>
              <a:t>New Delhi</a:t>
            </a:r>
            <a:r>
              <a:rPr lang="en-IN" sz="1400" dirty="0">
                <a:latin typeface="Lato Bold" panose="020F0502020204030203" charset="0"/>
              </a:rPr>
              <a:t> has the highest number of restaurants among the top cities analyzed. </a:t>
            </a:r>
          </a:p>
          <a:p>
            <a:pPr marL="285750" lvl="0" indent="-285750">
              <a:lnSpc>
                <a:spcPct val="200000"/>
              </a:lnSpc>
              <a:buFont typeface="Arial" panose="020B0604020202020204" pitchFamily="34" charset="0"/>
              <a:buChar char="•"/>
            </a:pPr>
            <a:r>
              <a:rPr lang="en-IN" sz="1400" b="1" dirty="0">
                <a:latin typeface="Lato Bold" panose="020F0502020204030203" charset="0"/>
              </a:rPr>
              <a:t>North Indian</a:t>
            </a:r>
            <a:r>
              <a:rPr lang="en-IN" sz="1400" dirty="0">
                <a:latin typeface="Lato Bold" panose="020F0502020204030203" charset="0"/>
              </a:rPr>
              <a:t> is the most common cuisine in the dataset. </a:t>
            </a:r>
          </a:p>
          <a:p>
            <a:pPr marL="285750" lvl="0" indent="-285750">
              <a:lnSpc>
                <a:spcPct val="200000"/>
              </a:lnSpc>
              <a:buFont typeface="Arial" panose="020B0604020202020204" pitchFamily="34" charset="0"/>
              <a:buChar char="•"/>
            </a:pPr>
            <a:r>
              <a:rPr lang="en-IN" sz="1400" dirty="0">
                <a:latin typeface="Lato Bold" panose="020F0502020204030203" charset="0"/>
              </a:rPr>
              <a:t>Around </a:t>
            </a:r>
            <a:r>
              <a:rPr lang="en-IN" sz="1400" b="1" dirty="0">
                <a:latin typeface="Lato Bold" panose="020F0502020204030203" charset="0"/>
              </a:rPr>
              <a:t>25.66%</a:t>
            </a:r>
            <a:r>
              <a:rPr lang="en-IN" sz="1400" dirty="0">
                <a:latin typeface="Lato Bold" panose="020F0502020204030203" charset="0"/>
              </a:rPr>
              <a:t> of restaurants offer online delivery. </a:t>
            </a:r>
          </a:p>
          <a:p>
            <a:pPr marL="285750" lvl="0" indent="-285750">
              <a:lnSpc>
                <a:spcPct val="200000"/>
              </a:lnSpc>
              <a:buFont typeface="Arial" panose="020B0604020202020204" pitchFamily="34" charset="0"/>
              <a:buChar char="•"/>
            </a:pPr>
            <a:r>
              <a:rPr lang="en-IN" sz="1400" dirty="0">
                <a:latin typeface="Lato Bold" panose="020F0502020204030203" charset="0"/>
              </a:rPr>
              <a:t>Around </a:t>
            </a:r>
            <a:r>
              <a:rPr lang="en-IN" sz="1400" b="1" dirty="0">
                <a:latin typeface="Lato Bold" panose="020F0502020204030203" charset="0"/>
              </a:rPr>
              <a:t>12.12%</a:t>
            </a:r>
            <a:r>
              <a:rPr lang="en-IN" sz="1400" dirty="0">
                <a:latin typeface="Lato Bold" panose="020F0502020204030203" charset="0"/>
              </a:rPr>
              <a:t> of restaurants provide table-booking facilities. </a:t>
            </a:r>
          </a:p>
          <a:p>
            <a:pPr marL="285750" lvl="0" indent="-285750">
              <a:lnSpc>
                <a:spcPct val="200000"/>
              </a:lnSpc>
              <a:buFont typeface="Arial" panose="020B0604020202020204" pitchFamily="34" charset="0"/>
              <a:buChar char="•"/>
            </a:pPr>
            <a:r>
              <a:rPr lang="en-IN" sz="1400" dirty="0">
                <a:latin typeface="Lato Bold" panose="020F0502020204030203" charset="0"/>
              </a:rPr>
              <a:t>Restaurant openings remained </a:t>
            </a:r>
            <a:r>
              <a:rPr lang="en-IN" sz="1400" b="1" dirty="0">
                <a:latin typeface="Lato Bold" panose="020F0502020204030203" charset="0"/>
              </a:rPr>
              <a:t>fairly stable between 2010 and 2018</a:t>
            </a:r>
            <a:r>
              <a:rPr lang="en-IN" sz="1400" dirty="0">
                <a:latin typeface="Lato Bold" panose="020F0502020204030203" charset="0"/>
              </a:rPr>
              <a:t>. </a:t>
            </a:r>
          </a:p>
          <a:p>
            <a:pPr marL="285750" lvl="0" indent="-285750">
              <a:lnSpc>
                <a:spcPct val="200000"/>
              </a:lnSpc>
              <a:buFont typeface="Arial" panose="020B0604020202020204" pitchFamily="34" charset="0"/>
              <a:buChar char="•"/>
            </a:pPr>
            <a:r>
              <a:rPr lang="en-IN" sz="1400" dirty="0">
                <a:latin typeface="Lato Bold" panose="020F0502020204030203" charset="0"/>
              </a:rPr>
              <a:t>Most restaurant ratings are concentrated around the </a:t>
            </a:r>
            <a:r>
              <a:rPr lang="en-IN" sz="1400" b="1" dirty="0">
                <a:latin typeface="Lato Bold" panose="020F0502020204030203" charset="0"/>
              </a:rPr>
              <a:t>3.0–3.5 range</a:t>
            </a:r>
            <a:r>
              <a:rPr lang="en-IN" sz="1400" dirty="0">
                <a:latin typeface="Lato Bold" panose="020F0502020204030203" charset="0"/>
              </a:rPr>
              <a:t>. </a:t>
            </a:r>
          </a:p>
          <a:p>
            <a:pPr marL="285750" lvl="0" indent="-285750">
              <a:lnSpc>
                <a:spcPct val="200000"/>
              </a:lnSpc>
              <a:buFont typeface="Arial" panose="020B0604020202020204" pitchFamily="34" charset="0"/>
              <a:buChar char="•"/>
            </a:pPr>
            <a:r>
              <a:rPr lang="en-IN" sz="1400" dirty="0">
                <a:latin typeface="Lato Bold" panose="020F0502020204030203" charset="0"/>
              </a:rPr>
              <a:t>The dataset covers </a:t>
            </a:r>
            <a:r>
              <a:rPr lang="en-IN" sz="1400" b="1" dirty="0">
                <a:latin typeface="Lato Bold" panose="020F0502020204030203" charset="0"/>
              </a:rPr>
              <a:t>9,551 restaurants across 141 cities</a:t>
            </a:r>
            <a:r>
              <a:rPr lang="en-IN" sz="1400" dirty="0">
                <a:latin typeface="Lato Bold" panose="020F0502020204030203" charset="0"/>
              </a:rPr>
              <a:t>.</a:t>
            </a:r>
          </a:p>
        </p:txBody>
      </p:sp>
    </p:spTree>
    <p:extLst>
      <p:ext uri="{BB962C8B-B14F-4D97-AF65-F5344CB8AC3E}">
        <p14:creationId xmlns:p14="http://schemas.microsoft.com/office/powerpoint/2010/main" val="1847181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2A639-C137-F87B-27A5-6D8B1DD6EE7F}"/>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A18E306-E399-6077-99D9-12E436024972}"/>
              </a:ext>
            </a:extLst>
          </p:cNvPr>
          <p:cNvSpPr/>
          <p:nvPr/>
        </p:nvSpPr>
        <p:spPr>
          <a:xfrm>
            <a:off x="0" y="660813"/>
            <a:ext cx="12192000" cy="590649"/>
          </a:xfrm>
          <a:prstGeom prst="rect">
            <a:avLst/>
          </a:prstGeom>
          <a:noFill/>
          <a:ln/>
        </p:spPr>
        <p:txBody>
          <a:bodyPr wrap="none" lIns="0" tIns="0" rIns="0" bIns="0" rtlCol="0" anchor="t"/>
          <a:lstStyle/>
          <a:p>
            <a:pPr algn="ctr"/>
            <a:r>
              <a:rPr lang="en-IN" sz="2800" dirty="0">
                <a:latin typeface="Lato Bold" panose="020F0502020204030203" charset="0"/>
              </a:rPr>
              <a:t>CONCLUSION</a:t>
            </a:r>
            <a:endParaRPr lang="en-US" sz="2800" dirty="0">
              <a:latin typeface="Lato Bold" panose="020F0502020204030203" charset="0"/>
            </a:endParaRPr>
          </a:p>
          <a:p>
            <a:pPr algn="ctr"/>
            <a:endParaRPr lang="en-IN" sz="2800" dirty="0">
              <a:latin typeface="Lato Bold" panose="020F0502020204030203" charset="0"/>
            </a:endParaRPr>
          </a:p>
        </p:txBody>
      </p:sp>
      <p:sp>
        <p:nvSpPr>
          <p:cNvPr id="7" name="Text 4">
            <a:extLst>
              <a:ext uri="{FF2B5EF4-FFF2-40B4-BE49-F238E27FC236}">
                <a16:creationId xmlns:a16="http://schemas.microsoft.com/office/drawing/2014/main" id="{780EAA3C-559E-5C0B-7E7E-51A8AAE4EEFC}"/>
              </a:ext>
            </a:extLst>
          </p:cNvPr>
          <p:cNvSpPr/>
          <p:nvPr/>
        </p:nvSpPr>
        <p:spPr>
          <a:xfrm>
            <a:off x="1034716" y="2521743"/>
            <a:ext cx="9745579" cy="3675444"/>
          </a:xfrm>
          <a:prstGeom prst="rect">
            <a:avLst/>
          </a:prstGeom>
          <a:noFill/>
          <a:ln/>
        </p:spPr>
        <p:txBody>
          <a:bodyPr wrap="square" lIns="0" tIns="0" rIns="0" bIns="0" rtlCol="0" anchor="t">
            <a:noAutofit/>
          </a:bodyPr>
          <a:lstStyle/>
          <a:p>
            <a:pPr lvl="0">
              <a:lnSpc>
                <a:spcPct val="200000"/>
              </a:lnSpc>
            </a:pPr>
            <a:r>
              <a:rPr lang="en-IN" sz="1400" dirty="0">
                <a:latin typeface="Lato Bold" panose="020F0502020204030203" charset="0"/>
              </a:rPr>
              <a:t>The Zomato Restaurant Analytics project helped us transform raw restaurant data into meaningful insights using Excel, SQL, Power BI, and Tableau. Through data cleaning, analysis, KPIs, and interactive dashboards, we were able to understand restaurant distribution, customer ratings, pricing, cuisines, and service availability. This project strengthened our practical skills in data analysis and visualization.</a:t>
            </a:r>
          </a:p>
        </p:txBody>
      </p:sp>
    </p:spTree>
    <p:extLst>
      <p:ext uri="{BB962C8B-B14F-4D97-AF65-F5344CB8AC3E}">
        <p14:creationId xmlns:p14="http://schemas.microsoft.com/office/powerpoint/2010/main" val="1789501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F1633-330D-3136-FF3C-579E3CAB511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5A2F952-10C6-F9EA-0273-7C6352390A23}"/>
              </a:ext>
            </a:extLst>
          </p:cNvPr>
          <p:cNvPicPr>
            <a:picLocks noChangeAspect="1"/>
          </p:cNvPicPr>
          <p:nvPr/>
        </p:nvPicPr>
        <p:blipFill>
          <a:blip r:embed="rId3"/>
          <a:stretch>
            <a:fillRect/>
          </a:stretch>
        </p:blipFill>
        <p:spPr>
          <a:xfrm>
            <a:off x="2595716" y="2272480"/>
            <a:ext cx="6402644" cy="2313039"/>
          </a:xfrm>
          <a:prstGeom prst="rect">
            <a:avLst/>
          </a:prstGeom>
        </p:spPr>
      </p:pic>
      <p:sp>
        <p:nvSpPr>
          <p:cNvPr id="5" name="TextBox 4">
            <a:extLst>
              <a:ext uri="{FF2B5EF4-FFF2-40B4-BE49-F238E27FC236}">
                <a16:creationId xmlns:a16="http://schemas.microsoft.com/office/drawing/2014/main" id="{857B816E-04A8-6518-750F-1360B42B0A98}"/>
              </a:ext>
            </a:extLst>
          </p:cNvPr>
          <p:cNvSpPr txBox="1"/>
          <p:nvPr/>
        </p:nvSpPr>
        <p:spPr>
          <a:xfrm>
            <a:off x="2595716" y="3123829"/>
            <a:ext cx="6331974" cy="584775"/>
          </a:xfrm>
          <a:prstGeom prst="rect">
            <a:avLst/>
          </a:prstGeom>
          <a:noFill/>
        </p:spPr>
        <p:txBody>
          <a:bodyPr wrap="square" rtlCol="0">
            <a:spAutoFit/>
          </a:bodyPr>
          <a:lstStyle/>
          <a:p>
            <a:pPr algn="ctr"/>
            <a:r>
              <a:rPr lang="en-IN" sz="3200" dirty="0">
                <a:latin typeface="Lato Bold" panose="020F0502020204030203" charset="0"/>
              </a:rPr>
              <a:t>THANK YOU</a:t>
            </a:r>
          </a:p>
        </p:txBody>
      </p:sp>
    </p:spTree>
    <p:extLst>
      <p:ext uri="{BB962C8B-B14F-4D97-AF65-F5344CB8AC3E}">
        <p14:creationId xmlns:p14="http://schemas.microsoft.com/office/powerpoint/2010/main" val="3806469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TotalTime>
  <Words>726</Words>
  <Application>Microsoft Office PowerPoint</Application>
  <PresentationFormat>Widescreen</PresentationFormat>
  <Paragraphs>100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Lato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ACER</dc:creator>
  <cp:lastModifiedBy>sanjivani meshram</cp:lastModifiedBy>
  <cp:revision>6</cp:revision>
  <dcterms:created xsi:type="dcterms:W3CDTF">2026-09-04T13:15:01Z</dcterms:created>
  <dcterms:modified xsi:type="dcterms:W3CDTF">2026-09-07T08:20:07Z</dcterms:modified>
</cp:coreProperties>
</file>